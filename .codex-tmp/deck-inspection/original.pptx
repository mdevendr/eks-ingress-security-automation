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7" r:id="rId3"/>
    <p:sldId id="275" r:id="rId4"/>
    <p:sldId id="278" r:id="rId5"/>
    <p:sldId id="288" r:id="rId6"/>
    <p:sldId id="276" r:id="rId7"/>
    <p:sldId id="286" r:id="rId8"/>
    <p:sldId id="290" r:id="rId9"/>
    <p:sldId id="280" r:id="rId10"/>
    <p:sldId id="281" r:id="rId11"/>
    <p:sldId id="258" r:id="rId12"/>
    <p:sldId id="260" r:id="rId13"/>
    <p:sldId id="285" r:id="rId14"/>
    <p:sldId id="283" r:id="rId15"/>
    <p:sldId id="287"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0" d="100"/>
          <a:sy n="110" d="100"/>
        </p:scale>
        <p:origin x="120" y="4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AAB74D-9E94-4CB5-902A-36B7A7EB99A1}" type="datetimeFigureOut">
              <a:rPr lang="en-GB" smtClean="0"/>
              <a:t>27/11/2025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340B4-1C9D-4C27-A685-322B6FDC97A4}" type="slidenum">
              <a:rPr lang="en-GB" smtClean="0"/>
              <a:t>‹#›</a:t>
            </a:fld>
            <a:endParaRPr lang="en-GB"/>
          </a:p>
        </p:txBody>
      </p:sp>
    </p:spTree>
    <p:extLst>
      <p:ext uri="{BB962C8B-B14F-4D97-AF65-F5344CB8AC3E}">
        <p14:creationId xmlns:p14="http://schemas.microsoft.com/office/powerpoint/2010/main" val="2445536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63340B4-1C9D-4C27-A685-322B6FDC97A4}" type="slidenum">
              <a:rPr lang="en-GB" smtClean="0"/>
              <a:t>2</a:t>
            </a:fld>
            <a:endParaRPr lang="en-GB"/>
          </a:p>
        </p:txBody>
      </p:sp>
    </p:spTree>
    <p:extLst>
      <p:ext uri="{BB962C8B-B14F-4D97-AF65-F5344CB8AC3E}">
        <p14:creationId xmlns:p14="http://schemas.microsoft.com/office/powerpoint/2010/main" val="2150596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63340B4-1C9D-4C27-A685-322B6FDC97A4}" type="slidenum">
              <a:rPr lang="en-GB" smtClean="0"/>
              <a:t>3</a:t>
            </a:fld>
            <a:endParaRPr lang="en-GB"/>
          </a:p>
        </p:txBody>
      </p:sp>
    </p:spTree>
    <p:extLst>
      <p:ext uri="{BB962C8B-B14F-4D97-AF65-F5344CB8AC3E}">
        <p14:creationId xmlns:p14="http://schemas.microsoft.com/office/powerpoint/2010/main" val="1647746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www.linkedin.com/in/mahesh-devendran-83a3b214/"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0699" y="687480"/>
            <a:ext cx="5605629" cy="994172"/>
          </a:xfrm>
        </p:spPr>
        <p:txBody>
          <a:bodyPr>
            <a:normAutofit/>
          </a:bodyPr>
          <a:lstStyle/>
          <a:p>
            <a:r>
              <a:rPr lang="en-GB" sz="3850" dirty="0"/>
              <a:t>Project Overview</a:t>
            </a:r>
          </a:p>
        </p:txBody>
      </p:sp>
      <p:sp>
        <p:nvSpPr>
          <p:cNvPr id="3" name="Content Placeholder 2"/>
          <p:cNvSpPr>
            <a:spLocks noGrp="1"/>
          </p:cNvSpPr>
          <p:nvPr>
            <p:ph idx="1"/>
          </p:nvPr>
        </p:nvSpPr>
        <p:spPr>
          <a:xfrm>
            <a:off x="852321" y="2227943"/>
            <a:ext cx="5033221" cy="915851"/>
          </a:xfrm>
        </p:spPr>
        <p:txBody>
          <a:bodyPr anchor="ctr">
            <a:normAutofit/>
          </a:bodyPr>
          <a:lstStyle/>
          <a:p>
            <a:r>
              <a:rPr lang="en-US" sz="2100" dirty="0"/>
              <a:t>EKS Ingress Security Automation</a:t>
            </a: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Graphic 6" descr="Gears">
            <a:extLst>
              <a:ext uri="{FF2B5EF4-FFF2-40B4-BE49-F238E27FC236}">
                <a16:creationId xmlns:a16="http://schemas.microsoft.com/office/drawing/2014/main" id="{9828176F-399A-1917-2A08-444CEE6A84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
        <p:nvSpPr>
          <p:cNvPr id="4" name="TextBox 3">
            <a:extLst>
              <a:ext uri="{FF2B5EF4-FFF2-40B4-BE49-F238E27FC236}">
                <a16:creationId xmlns:a16="http://schemas.microsoft.com/office/drawing/2014/main" id="{5D4C0F6F-9680-82B3-343A-2D3483F35BD2}"/>
              </a:ext>
            </a:extLst>
          </p:cNvPr>
          <p:cNvSpPr txBox="1"/>
          <p:nvPr/>
        </p:nvSpPr>
        <p:spPr>
          <a:xfrm>
            <a:off x="2912836" y="5512926"/>
            <a:ext cx="3994363" cy="461665"/>
          </a:xfrm>
          <a:prstGeom prst="rect">
            <a:avLst/>
          </a:prstGeom>
          <a:noFill/>
        </p:spPr>
        <p:txBody>
          <a:bodyPr wrap="none" rtlCol="0">
            <a:spAutoFit/>
          </a:bodyPr>
          <a:lstStyle/>
          <a:p>
            <a:r>
              <a:rPr lang="en-GB" sz="1200" dirty="0"/>
              <a:t>Mahesh Devendran, Cloud Architect</a:t>
            </a:r>
          </a:p>
          <a:p>
            <a:r>
              <a:rPr lang="en-GB" sz="1200" dirty="0">
                <a:hlinkClick r:id="rId4"/>
              </a:rPr>
              <a:t>https://www.linkedin.com/in/mahesh-devendran-83a3b214/</a:t>
            </a:r>
            <a:r>
              <a:rPr lang="en-GB" sz="1200"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19718A2-0F8B-2C02-C505-C4EC49695D36}"/>
              </a:ext>
            </a:extLst>
          </p:cNvPr>
          <p:cNvPicPr>
            <a:picLocks noChangeAspect="1"/>
          </p:cNvPicPr>
          <p:nvPr/>
        </p:nvPicPr>
        <p:blipFill>
          <a:blip r:embed="rId3"/>
          <a:stretch>
            <a:fillRect/>
          </a:stretch>
        </p:blipFill>
        <p:spPr>
          <a:xfrm>
            <a:off x="0" y="68016"/>
            <a:ext cx="9144000" cy="6721968"/>
          </a:xfrm>
          <a:prstGeom prst="rect">
            <a:avLst/>
          </a:prstGeom>
        </p:spPr>
      </p:pic>
    </p:spTree>
    <p:extLst>
      <p:ext uri="{BB962C8B-B14F-4D97-AF65-F5344CB8AC3E}">
        <p14:creationId xmlns:p14="http://schemas.microsoft.com/office/powerpoint/2010/main" val="795748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CC7D015-0DD8-420F-A568-AC4FEDC41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9FFFB2-5660-EAE2-9C68-68395BA95999}"/>
              </a:ext>
            </a:extLst>
          </p:cNvPr>
          <p:cNvSpPr>
            <a:spLocks noGrp="1"/>
          </p:cNvSpPr>
          <p:nvPr>
            <p:ph type="title"/>
          </p:nvPr>
        </p:nvSpPr>
        <p:spPr>
          <a:xfrm>
            <a:off x="209823" y="557189"/>
            <a:ext cx="2210344" cy="5571898"/>
          </a:xfrm>
        </p:spPr>
        <p:txBody>
          <a:bodyPr anchor="t">
            <a:normAutofit/>
          </a:bodyPr>
          <a:lstStyle/>
          <a:p>
            <a:pPr algn="l"/>
            <a:r>
              <a:rPr lang="en-GB" sz="2400" dirty="0"/>
              <a:t>Solution Before</a:t>
            </a:r>
            <a:br>
              <a:rPr lang="en-GB" sz="2400" dirty="0"/>
            </a:br>
            <a:br>
              <a:rPr lang="en-GB" sz="2400" dirty="0"/>
            </a:br>
            <a:endParaRPr lang="en-GB" sz="1600" dirty="0"/>
          </a:p>
        </p:txBody>
      </p:sp>
      <p:sp>
        <p:nvSpPr>
          <p:cNvPr id="3" name="Content Placeholder 2">
            <a:extLst>
              <a:ext uri="{FF2B5EF4-FFF2-40B4-BE49-F238E27FC236}">
                <a16:creationId xmlns:a16="http://schemas.microsoft.com/office/drawing/2014/main" id="{1232D45A-5348-E679-2ED0-C670909467C6}"/>
              </a:ext>
            </a:extLst>
          </p:cNvPr>
          <p:cNvSpPr>
            <a:spLocks noGrp="1"/>
          </p:cNvSpPr>
          <p:nvPr>
            <p:ph idx="1"/>
          </p:nvPr>
        </p:nvSpPr>
        <p:spPr>
          <a:xfrm>
            <a:off x="2281647" y="200297"/>
            <a:ext cx="6233702" cy="2264230"/>
          </a:xfrm>
        </p:spPr>
        <p:txBody>
          <a:bodyPr anchor="t">
            <a:noAutofit/>
          </a:bodyPr>
          <a:lstStyle/>
          <a:p>
            <a:pPr marL="0" lvl="0" indent="0" defTabSz="914400" eaLnBrk="0" fontAlgn="base" hangingPunct="0">
              <a:lnSpc>
                <a:spcPct val="90000"/>
              </a:lnSpc>
              <a:spcBef>
                <a:spcPct val="0"/>
              </a:spcBef>
              <a:spcAft>
                <a:spcPct val="0"/>
              </a:spcAft>
              <a:buNone/>
            </a:pPr>
            <a:r>
              <a:rPr lang="en-GB" sz="1400" u="sng" dirty="0"/>
              <a:t>Background</a:t>
            </a:r>
          </a:p>
          <a:p>
            <a:pPr marL="0" lvl="0" indent="0" defTabSz="914400" eaLnBrk="0" fontAlgn="base" hangingPunct="0">
              <a:lnSpc>
                <a:spcPct val="90000"/>
              </a:lnSpc>
              <a:spcBef>
                <a:spcPct val="0"/>
              </a:spcBef>
              <a:spcAft>
                <a:spcPct val="0"/>
              </a:spcAft>
              <a:buNone/>
            </a:pPr>
            <a:r>
              <a:rPr lang="en-GB" sz="1400" dirty="0"/>
              <a:t>Kubernetes Ingress deployment for external facing services, monitored by ALB controller and External DNS.</a:t>
            </a:r>
          </a:p>
          <a:p>
            <a:pPr lvl="0" defTabSz="914400" eaLnBrk="0" fontAlgn="base" hangingPunct="0">
              <a:lnSpc>
                <a:spcPct val="90000"/>
              </a:lnSpc>
              <a:spcBef>
                <a:spcPct val="0"/>
              </a:spcBef>
              <a:spcAft>
                <a:spcPct val="0"/>
              </a:spcAft>
              <a:buFont typeface="+mj-lt"/>
              <a:buAutoNum type="arabicPeriod"/>
            </a:pPr>
            <a:r>
              <a:rPr lang="en-GB" sz="1400" dirty="0"/>
              <a:t>creates ALB</a:t>
            </a:r>
          </a:p>
          <a:p>
            <a:pPr lvl="0" defTabSz="914400" eaLnBrk="0" fontAlgn="base" hangingPunct="0">
              <a:lnSpc>
                <a:spcPct val="90000"/>
              </a:lnSpc>
              <a:spcBef>
                <a:spcPct val="0"/>
              </a:spcBef>
              <a:spcAft>
                <a:spcPct val="0"/>
              </a:spcAft>
              <a:buFont typeface="+mj-lt"/>
              <a:buAutoNum type="arabicPeriod"/>
            </a:pPr>
            <a:r>
              <a:rPr lang="en-GB" sz="1400" dirty="0"/>
              <a:t>exposes by adding route53 alias record</a:t>
            </a:r>
          </a:p>
          <a:p>
            <a:pPr marL="0" lvl="0" indent="0" defTabSz="914400" eaLnBrk="0" fontAlgn="base" hangingPunct="0">
              <a:lnSpc>
                <a:spcPct val="90000"/>
              </a:lnSpc>
              <a:spcBef>
                <a:spcPct val="0"/>
              </a:spcBef>
              <a:spcAft>
                <a:spcPct val="0"/>
              </a:spcAft>
              <a:buNone/>
            </a:pPr>
            <a:r>
              <a:rPr lang="en-GB" sz="1400" b="1" i="1" dirty="0"/>
              <a:t>Correct by design and specification but ALB is not protected to external threats.</a:t>
            </a:r>
            <a:endParaRPr lang="en-US" altLang="en-US" sz="1400" b="1" i="1" dirty="0"/>
          </a:p>
          <a:p>
            <a:pPr marL="0" lvl="0" indent="0" defTabSz="914400" eaLnBrk="0" fontAlgn="base" hangingPunct="0">
              <a:lnSpc>
                <a:spcPct val="90000"/>
              </a:lnSpc>
              <a:spcBef>
                <a:spcPct val="0"/>
              </a:spcBef>
              <a:spcAft>
                <a:spcPct val="0"/>
              </a:spcAft>
              <a:buNone/>
            </a:pPr>
            <a:endParaRPr lang="en-US" altLang="en-US" sz="1400" dirty="0"/>
          </a:p>
          <a:p>
            <a:pPr marL="0" lvl="0" indent="0" defTabSz="914400" eaLnBrk="0" fontAlgn="base" hangingPunct="0">
              <a:lnSpc>
                <a:spcPct val="90000"/>
              </a:lnSpc>
              <a:spcBef>
                <a:spcPct val="0"/>
              </a:spcBef>
              <a:spcAft>
                <a:spcPct val="0"/>
              </a:spcAft>
              <a:buNone/>
            </a:pPr>
            <a:r>
              <a:rPr lang="en-US" altLang="en-US" sz="1400" u="sng" dirty="0"/>
              <a:t>Existing Solution</a:t>
            </a:r>
          </a:p>
          <a:p>
            <a:pPr marL="0" lvl="0" indent="0" defTabSz="914400" eaLnBrk="0" fontAlgn="base" hangingPunct="0">
              <a:lnSpc>
                <a:spcPct val="90000"/>
              </a:lnSpc>
              <a:spcBef>
                <a:spcPct val="0"/>
              </a:spcBef>
              <a:spcAft>
                <a:spcPct val="0"/>
              </a:spcAft>
              <a:buNone/>
            </a:pPr>
            <a:r>
              <a:rPr lang="en-US" altLang="en-US" sz="1400" dirty="0"/>
              <a:t>Every ingress deployment required a follow-on </a:t>
            </a:r>
            <a:r>
              <a:rPr lang="en-US" altLang="en-US" sz="1400" b="1" dirty="0"/>
              <a:t>manual pipeline</a:t>
            </a:r>
            <a:r>
              <a:rPr lang="en-US" altLang="en-US" sz="1400" dirty="0"/>
              <a:t> to - Attach ALB to WAF </a:t>
            </a:r>
            <a:r>
              <a:rPr lang="en-US" altLang="en-US" sz="1400" dirty="0" err="1"/>
              <a:t>WebACL</a:t>
            </a:r>
            <a:r>
              <a:rPr lang="en-US" altLang="en-US" sz="1400" dirty="0"/>
              <a:t>, Configure health checks and enable Shield Advance protection.  No SRT engagement or monitoring or alerting in place. WAF logs stayed in S3 locally.</a:t>
            </a:r>
          </a:p>
          <a:p>
            <a:pPr marL="0" lvl="0" indent="0" defTabSz="914400" eaLnBrk="0" fontAlgn="base" hangingPunct="0">
              <a:lnSpc>
                <a:spcPct val="90000"/>
              </a:lnSpc>
              <a:spcBef>
                <a:spcPct val="0"/>
              </a:spcBef>
              <a:spcAft>
                <a:spcPct val="0"/>
              </a:spcAft>
              <a:buNone/>
            </a:pPr>
            <a:endParaRPr lang="en-US" altLang="en-US" sz="1400" dirty="0"/>
          </a:p>
          <a:p>
            <a:pPr marL="0" lvl="0" indent="0" defTabSz="914400" eaLnBrk="0" fontAlgn="base" hangingPunct="0">
              <a:lnSpc>
                <a:spcPct val="90000"/>
              </a:lnSpc>
              <a:spcBef>
                <a:spcPct val="0"/>
              </a:spcBef>
              <a:spcAft>
                <a:spcPct val="0"/>
              </a:spcAft>
              <a:buNone/>
            </a:pPr>
            <a:endParaRPr lang="en-US" altLang="en-US" sz="1400" dirty="0"/>
          </a:p>
        </p:txBody>
      </p:sp>
      <p:pic>
        <p:nvPicPr>
          <p:cNvPr id="5" name="Picture 4" descr="A diagram of a company&#10;&#10;AI-generated content may be incorrect.">
            <a:extLst>
              <a:ext uri="{FF2B5EF4-FFF2-40B4-BE49-F238E27FC236}">
                <a16:creationId xmlns:a16="http://schemas.microsoft.com/office/drawing/2014/main" id="{12965BBC-1151-37D0-ACC7-E2C86299FC03}"/>
              </a:ext>
            </a:extLst>
          </p:cNvPr>
          <p:cNvPicPr>
            <a:picLocks noChangeAspect="1"/>
          </p:cNvPicPr>
          <p:nvPr/>
        </p:nvPicPr>
        <p:blipFill>
          <a:blip r:embed="rId3"/>
          <a:stretch>
            <a:fillRect/>
          </a:stretch>
        </p:blipFill>
        <p:spPr>
          <a:xfrm>
            <a:off x="395671" y="2419090"/>
            <a:ext cx="8408695" cy="4236939"/>
          </a:xfrm>
          <a:prstGeom prst="rect">
            <a:avLst/>
          </a:prstGeom>
        </p:spPr>
      </p:pic>
    </p:spTree>
    <p:extLst>
      <p:ext uri="{BB962C8B-B14F-4D97-AF65-F5344CB8AC3E}">
        <p14:creationId xmlns:p14="http://schemas.microsoft.com/office/powerpoint/2010/main" val="972434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ED73A066-8FBC-0335-F415-045A87C52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BF5D3545-AC26-E173-85AF-DA22AAA4AB44}"/>
              </a:ext>
            </a:extLst>
          </p:cNvPr>
          <p:cNvSpPr>
            <a:spLocks noGrp="1"/>
          </p:cNvSpPr>
          <p:nvPr>
            <p:ph type="title"/>
          </p:nvPr>
        </p:nvSpPr>
        <p:spPr>
          <a:xfrm>
            <a:off x="209823" y="557189"/>
            <a:ext cx="2210344" cy="1489325"/>
          </a:xfrm>
        </p:spPr>
        <p:txBody>
          <a:bodyPr anchor="t">
            <a:normAutofit fontScale="90000"/>
          </a:bodyPr>
          <a:lstStyle/>
          <a:p>
            <a:pPr algn="l"/>
            <a:r>
              <a:rPr lang="en-GB" sz="2400" dirty="0"/>
              <a:t>The Problem</a:t>
            </a:r>
            <a:br>
              <a:rPr lang="en-GB" sz="2400" dirty="0"/>
            </a:br>
            <a:r>
              <a:rPr lang="en-GB" sz="2400" dirty="0"/>
              <a:t>- Unprotected ALBs</a:t>
            </a:r>
            <a:br>
              <a:rPr lang="en-GB" sz="2400" dirty="0"/>
            </a:br>
            <a:br>
              <a:rPr lang="en-GB" sz="2400" dirty="0"/>
            </a:br>
            <a:endParaRPr lang="en-GB" sz="1600" dirty="0"/>
          </a:p>
        </p:txBody>
      </p:sp>
      <p:sp>
        <p:nvSpPr>
          <p:cNvPr id="6" name="Content Placeholder 2">
            <a:extLst>
              <a:ext uri="{FF2B5EF4-FFF2-40B4-BE49-F238E27FC236}">
                <a16:creationId xmlns:a16="http://schemas.microsoft.com/office/drawing/2014/main" id="{CDF6D5B8-E407-862F-2D5A-D63176DDD389}"/>
              </a:ext>
            </a:extLst>
          </p:cNvPr>
          <p:cNvSpPr>
            <a:spLocks noGrp="1"/>
          </p:cNvSpPr>
          <p:nvPr>
            <p:ph idx="1"/>
          </p:nvPr>
        </p:nvSpPr>
        <p:spPr>
          <a:xfrm>
            <a:off x="2629989" y="200296"/>
            <a:ext cx="5885359" cy="6531430"/>
          </a:xfrm>
        </p:spPr>
        <p:txBody>
          <a:bodyPr anchor="t">
            <a:noAutofit/>
          </a:bodyPr>
          <a:lstStyle/>
          <a:p>
            <a:pPr marL="0" lvl="0" indent="0" defTabSz="914400" eaLnBrk="0" fontAlgn="base" hangingPunct="0">
              <a:lnSpc>
                <a:spcPct val="90000"/>
              </a:lnSpc>
              <a:spcBef>
                <a:spcPct val="0"/>
              </a:spcBef>
              <a:spcAft>
                <a:spcPct val="0"/>
              </a:spcAft>
              <a:buNone/>
            </a:pPr>
            <a:r>
              <a:rPr lang="en-US" altLang="en-US" sz="1600" b="1" dirty="0"/>
              <a:t>PROBLEM with the solution:</a:t>
            </a:r>
          </a:p>
          <a:p>
            <a:pPr marL="0" lvl="0" indent="0" defTabSz="914400" eaLnBrk="0" fontAlgn="base" hangingPunct="0">
              <a:lnSpc>
                <a:spcPct val="90000"/>
              </a:lnSpc>
              <a:spcBef>
                <a:spcPct val="0"/>
              </a:spcBef>
              <a:spcAft>
                <a:spcPct val="0"/>
              </a:spcAft>
              <a:buNone/>
            </a:pPr>
            <a:endParaRPr lang="en-US" altLang="en-US" sz="1600" b="1" dirty="0"/>
          </a:p>
          <a:p>
            <a:pPr marL="0" lvl="0" indent="0" defTabSz="914400" eaLnBrk="0" fontAlgn="base" hangingPunct="0">
              <a:lnSpc>
                <a:spcPct val="90000"/>
              </a:lnSpc>
              <a:spcBef>
                <a:spcPct val="0"/>
              </a:spcBef>
              <a:spcAft>
                <a:spcPct val="0"/>
              </a:spcAft>
              <a:buNone/>
            </a:pPr>
            <a:r>
              <a:rPr lang="en-US" altLang="en-US" sz="1600" dirty="0"/>
              <a:t>Gap in protecting the ALBs leaving it vulnerable for attacks.</a:t>
            </a:r>
          </a:p>
          <a:p>
            <a:pPr marL="0" lvl="0" indent="0" defTabSz="914400" eaLnBrk="0" fontAlgn="base" hangingPunct="0">
              <a:lnSpc>
                <a:spcPct val="90000"/>
              </a:lnSpc>
              <a:spcBef>
                <a:spcPct val="0"/>
              </a:spcBef>
              <a:spcAft>
                <a:spcPct val="0"/>
              </a:spcAft>
              <a:buNone/>
            </a:pPr>
            <a:r>
              <a:rPr lang="en-US" altLang="en-US" sz="1600" dirty="0"/>
              <a:t>Additional pipeline with governance requiring 2+ hours per deployment per application team per customer.</a:t>
            </a:r>
          </a:p>
          <a:p>
            <a:pPr marL="0" indent="0" defTabSz="914400" eaLnBrk="0" fontAlgn="base" hangingPunct="0">
              <a:lnSpc>
                <a:spcPct val="90000"/>
              </a:lnSpc>
              <a:spcBef>
                <a:spcPct val="0"/>
              </a:spcBef>
              <a:spcAft>
                <a:spcPct val="0"/>
              </a:spcAft>
              <a:buNone/>
            </a:pPr>
            <a:endParaRPr lang="en-US" altLang="en-US" sz="1600" dirty="0"/>
          </a:p>
          <a:p>
            <a:pPr marL="0" lvl="0" indent="0" defTabSz="914400" eaLnBrk="0" fontAlgn="base" hangingPunct="0">
              <a:lnSpc>
                <a:spcPct val="90000"/>
              </a:lnSpc>
              <a:spcBef>
                <a:spcPct val="0"/>
              </a:spcBef>
              <a:spcAft>
                <a:spcPct val="0"/>
              </a:spcAft>
              <a:buNone/>
            </a:pPr>
            <a:r>
              <a:rPr lang="en-US" altLang="en-US" sz="1600" b="1" dirty="0"/>
              <a:t>Security gaps:</a:t>
            </a:r>
            <a:endParaRPr lang="en-US" altLang="en-US" sz="1600" dirty="0"/>
          </a:p>
          <a:p>
            <a:pPr defTabSz="914400" eaLnBrk="0" fontAlgn="base" hangingPunct="0">
              <a:lnSpc>
                <a:spcPct val="90000"/>
              </a:lnSpc>
              <a:spcBef>
                <a:spcPct val="0"/>
              </a:spcBef>
              <a:spcAft>
                <a:spcPct val="0"/>
              </a:spcAft>
            </a:pPr>
            <a:r>
              <a:rPr lang="en-US" altLang="en-US" sz="1600" dirty="0"/>
              <a:t>No Shield Response Team (SRT) or proactive AWS DDoS engagement</a:t>
            </a:r>
          </a:p>
          <a:p>
            <a:pPr defTabSz="914400" eaLnBrk="0" fontAlgn="base" hangingPunct="0">
              <a:lnSpc>
                <a:spcPct val="90000"/>
              </a:lnSpc>
              <a:spcBef>
                <a:spcPct val="0"/>
              </a:spcBef>
              <a:spcAft>
                <a:spcPct val="0"/>
              </a:spcAft>
            </a:pPr>
            <a:r>
              <a:rPr lang="en-US" altLang="en-US" sz="1600" dirty="0"/>
              <a:t>No centralized logging, Sentinel integration → Security Operation Center (SOC) had </a:t>
            </a:r>
            <a:r>
              <a:rPr lang="en-US" altLang="en-US" sz="1600" b="1" dirty="0"/>
              <a:t>zero visibility</a:t>
            </a:r>
          </a:p>
          <a:p>
            <a:pPr marL="0" indent="0" defTabSz="914400" eaLnBrk="0" fontAlgn="base" hangingPunct="0">
              <a:lnSpc>
                <a:spcPct val="90000"/>
              </a:lnSpc>
              <a:spcBef>
                <a:spcPct val="0"/>
              </a:spcBef>
              <a:spcAft>
                <a:spcPct val="0"/>
              </a:spcAft>
              <a:buNone/>
            </a:pPr>
            <a:endParaRPr lang="en-US" altLang="en-US" sz="1600" dirty="0"/>
          </a:p>
          <a:p>
            <a:pPr marL="0" lvl="0" indent="0" defTabSz="914400" eaLnBrk="0" fontAlgn="base" hangingPunct="0">
              <a:lnSpc>
                <a:spcPct val="90000"/>
              </a:lnSpc>
              <a:spcBef>
                <a:spcPct val="0"/>
              </a:spcBef>
              <a:spcAft>
                <a:spcPct val="0"/>
              </a:spcAft>
              <a:buNone/>
            </a:pPr>
            <a:r>
              <a:rPr lang="en-US" altLang="en-US" sz="1600" b="1" dirty="0"/>
              <a:t>Compliance risk:</a:t>
            </a:r>
            <a:endParaRPr lang="en-US" altLang="en-US" sz="1600" dirty="0"/>
          </a:p>
          <a:p>
            <a:pPr defTabSz="914400" eaLnBrk="0" fontAlgn="base" hangingPunct="0">
              <a:lnSpc>
                <a:spcPct val="90000"/>
              </a:lnSpc>
              <a:spcBef>
                <a:spcPct val="0"/>
              </a:spcBef>
              <a:spcAft>
                <a:spcPct val="0"/>
              </a:spcAft>
            </a:pPr>
            <a:r>
              <a:rPr lang="en-US" altLang="en-US" sz="1600" dirty="0"/>
              <a:t>No automated guardrails - </a:t>
            </a:r>
            <a:r>
              <a:rPr lang="en-US" sz="1600" dirty="0"/>
              <a:t>required security controls automatically and consistently across all workloads.</a:t>
            </a:r>
          </a:p>
          <a:p>
            <a:pPr marL="0" indent="0" defTabSz="914400" eaLnBrk="0" fontAlgn="base" hangingPunct="0">
              <a:lnSpc>
                <a:spcPct val="90000"/>
              </a:lnSpc>
              <a:spcBef>
                <a:spcPct val="0"/>
              </a:spcBef>
              <a:spcAft>
                <a:spcPct val="0"/>
              </a:spcAft>
              <a:buNone/>
            </a:pPr>
            <a:endParaRPr lang="en-US" altLang="en-US" sz="1600" dirty="0"/>
          </a:p>
          <a:p>
            <a:pPr marL="0" indent="0" defTabSz="914400" eaLnBrk="0" fontAlgn="base" hangingPunct="0">
              <a:lnSpc>
                <a:spcPct val="90000"/>
              </a:lnSpc>
              <a:spcBef>
                <a:spcPct val="0"/>
              </a:spcBef>
              <a:spcAft>
                <a:spcPct val="0"/>
              </a:spcAft>
              <a:buNone/>
            </a:pPr>
            <a:r>
              <a:rPr lang="en-US" altLang="en-US" sz="1600" b="1" dirty="0"/>
              <a:t>Costing:</a:t>
            </a:r>
          </a:p>
          <a:p>
            <a:pPr marL="0" indent="0" defTabSz="914400" eaLnBrk="0" fontAlgn="base" hangingPunct="0">
              <a:lnSpc>
                <a:spcPct val="90000"/>
              </a:lnSpc>
              <a:spcBef>
                <a:spcPct val="0"/>
              </a:spcBef>
              <a:spcAft>
                <a:spcPct val="0"/>
              </a:spcAft>
              <a:buNone/>
            </a:pPr>
            <a:r>
              <a:rPr lang="en-US" altLang="en-US" sz="1600" dirty="0"/>
              <a:t>Repeated </a:t>
            </a:r>
            <a:r>
              <a:rPr lang="en-US" altLang="en-US" sz="1600" dirty="0" err="1"/>
              <a:t>IaC</a:t>
            </a:r>
            <a:r>
              <a:rPr lang="en-US" altLang="en-US" sz="1600" dirty="0"/>
              <a:t> operation over 10+ spoke accounts (Customer) consuming manpower and pipeline resources. </a:t>
            </a:r>
          </a:p>
          <a:p>
            <a:pPr marL="0" indent="0" defTabSz="914400" eaLnBrk="0" fontAlgn="base" hangingPunct="0">
              <a:lnSpc>
                <a:spcPct val="90000"/>
              </a:lnSpc>
              <a:spcBef>
                <a:spcPct val="0"/>
              </a:spcBef>
              <a:spcAft>
                <a:spcPct val="0"/>
              </a:spcAft>
              <a:buNone/>
            </a:pPr>
            <a:endParaRPr lang="en-US" altLang="en-US" sz="1600" dirty="0"/>
          </a:p>
          <a:p>
            <a:pPr marL="0" indent="0" defTabSz="914400" eaLnBrk="0" fontAlgn="base" hangingPunct="0">
              <a:lnSpc>
                <a:spcPct val="90000"/>
              </a:lnSpc>
              <a:spcBef>
                <a:spcPct val="0"/>
              </a:spcBef>
              <a:spcAft>
                <a:spcPct val="0"/>
              </a:spcAft>
              <a:buNone/>
            </a:pPr>
            <a:r>
              <a:rPr lang="en-US" altLang="en-US" sz="1600" dirty="0"/>
              <a:t>Assuming : 3 Deployments per Application team, 2 Application teams per Customer.</a:t>
            </a:r>
          </a:p>
          <a:p>
            <a:pPr marL="0" indent="0" defTabSz="914400" eaLnBrk="0" fontAlgn="base" hangingPunct="0">
              <a:lnSpc>
                <a:spcPct val="90000"/>
              </a:lnSpc>
              <a:spcBef>
                <a:spcPct val="0"/>
              </a:spcBef>
              <a:spcAft>
                <a:spcPct val="0"/>
              </a:spcAft>
              <a:buNone/>
            </a:pPr>
            <a:endParaRPr lang="en-US" altLang="en-US" sz="1600" dirty="0"/>
          </a:p>
          <a:p>
            <a:pPr marL="0" indent="0" defTabSz="914400" eaLnBrk="0" fontAlgn="base" hangingPunct="0">
              <a:lnSpc>
                <a:spcPct val="90000"/>
              </a:lnSpc>
              <a:spcBef>
                <a:spcPct val="0"/>
              </a:spcBef>
              <a:spcAft>
                <a:spcPct val="0"/>
              </a:spcAft>
              <a:buNone/>
            </a:pPr>
            <a:r>
              <a:rPr lang="en-US" altLang="en-US" sz="1600" dirty="0"/>
              <a:t>Total Cost = (Manpower + Pipeline Run) X 3 X 2 X 10</a:t>
            </a:r>
          </a:p>
          <a:p>
            <a:pPr marL="0" indent="0" defTabSz="914400" eaLnBrk="0" fontAlgn="base" hangingPunct="0">
              <a:lnSpc>
                <a:spcPct val="90000"/>
              </a:lnSpc>
              <a:spcBef>
                <a:spcPct val="0"/>
              </a:spcBef>
              <a:spcAft>
                <a:spcPct val="0"/>
              </a:spcAft>
              <a:buNone/>
            </a:pPr>
            <a:r>
              <a:rPr lang="en-US" altLang="en-US" sz="1600" dirty="0"/>
              <a:t> = 60 X </a:t>
            </a:r>
            <a:r>
              <a:rPr lang="en-US" altLang="en-US" sz="1600" dirty="0" err="1"/>
              <a:t>IaC</a:t>
            </a:r>
            <a:r>
              <a:rPr lang="en-US" altLang="en-US" sz="1600" dirty="0"/>
              <a:t> Cost </a:t>
            </a:r>
          </a:p>
        </p:txBody>
      </p:sp>
    </p:spTree>
    <p:extLst>
      <p:ext uri="{BB962C8B-B14F-4D97-AF65-F5344CB8AC3E}">
        <p14:creationId xmlns:p14="http://schemas.microsoft.com/office/powerpoint/2010/main" val="2709950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619F7-794A-54F7-8448-F629FF358710}"/>
            </a:ext>
          </a:extLst>
        </p:cNvPr>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32FC7F91-BF38-5C56-B615-B005A0046D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ADE92FC-BEF5-0964-03E9-ECD760A3D0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5400000">
            <a:off x="-2487837" y="2732147"/>
            <a:ext cx="5860051" cy="395784"/>
            <a:chOff x="6081624" y="1998368"/>
            <a:chExt cx="5613457" cy="782175"/>
          </a:xfrm>
          <a:solidFill>
            <a:schemeClr val="accent4"/>
          </a:solidFill>
        </p:grpSpPr>
        <p:sp>
          <p:nvSpPr>
            <p:cNvPr id="6" name="Rectangle 5">
              <a:extLst>
                <a:ext uri="{FF2B5EF4-FFF2-40B4-BE49-F238E27FC236}">
                  <a16:creationId xmlns:a16="http://schemas.microsoft.com/office/drawing/2014/main" id="{2DA7E5C9-A0CE-1946-9C6A-0F1E918FD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CBAACA8-641A-06C1-68DB-26D58BCC7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Rectangle 7">
            <a:extLst>
              <a:ext uri="{FF2B5EF4-FFF2-40B4-BE49-F238E27FC236}">
                <a16:creationId xmlns:a16="http://schemas.microsoft.com/office/drawing/2014/main" id="{B7280C89-F360-9DA8-13CE-C096E020A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4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72C12B72-0624-41A7-4D99-9DD9F0D63EF5}"/>
              </a:ext>
            </a:extLst>
          </p:cNvPr>
          <p:cNvSpPr>
            <a:spLocks noGrp="1"/>
          </p:cNvSpPr>
          <p:nvPr>
            <p:ph type="title"/>
          </p:nvPr>
        </p:nvSpPr>
        <p:spPr>
          <a:xfrm>
            <a:off x="962222" y="149509"/>
            <a:ext cx="7387313" cy="433966"/>
          </a:xfrm>
        </p:spPr>
        <p:txBody>
          <a:bodyPr anchor="b">
            <a:normAutofit fontScale="90000"/>
          </a:bodyPr>
          <a:lstStyle/>
          <a:p>
            <a:pPr>
              <a:lnSpc>
                <a:spcPct val="90000"/>
              </a:lnSpc>
            </a:pPr>
            <a:r>
              <a:rPr lang="en-US" sz="3200" dirty="0"/>
              <a:t>Responsibilities</a:t>
            </a:r>
            <a:endParaRPr lang="en-GB" sz="3200" dirty="0"/>
          </a:p>
        </p:txBody>
      </p:sp>
      <p:sp>
        <p:nvSpPr>
          <p:cNvPr id="15" name="TextBox 14">
            <a:extLst>
              <a:ext uri="{FF2B5EF4-FFF2-40B4-BE49-F238E27FC236}">
                <a16:creationId xmlns:a16="http://schemas.microsoft.com/office/drawing/2014/main" id="{13E96A47-8D63-ACE3-1555-05DECDB8EB5C}"/>
              </a:ext>
            </a:extLst>
          </p:cNvPr>
          <p:cNvSpPr txBox="1"/>
          <p:nvPr/>
        </p:nvSpPr>
        <p:spPr>
          <a:xfrm>
            <a:off x="962222" y="725739"/>
            <a:ext cx="7519927" cy="4801314"/>
          </a:xfrm>
          <a:prstGeom prst="rect">
            <a:avLst/>
          </a:prstGeom>
          <a:noFill/>
        </p:spPr>
        <p:txBody>
          <a:bodyPr wrap="square" rtlCol="0">
            <a:spAutoFit/>
          </a:bodyPr>
          <a:lstStyle/>
          <a:p>
            <a:pPr marL="285750" indent="-285750">
              <a:buFont typeface="Arial" panose="020B0604020202020204" pitchFamily="34" charset="0"/>
              <a:buChar char="•"/>
            </a:pPr>
            <a:r>
              <a:rPr lang="en-US" dirty="0"/>
              <a:t>Owned the end-to-end architecture and design, including EDA flow, security boundaries, and multi-account integration patterns.</a:t>
            </a:r>
          </a:p>
          <a:p>
            <a:endParaRPr lang="en-US" dirty="0"/>
          </a:p>
          <a:p>
            <a:pPr marL="285750" indent="-285750">
              <a:buFont typeface="Arial" panose="020B0604020202020204" pitchFamily="34" charset="0"/>
              <a:buChar char="•"/>
            </a:pPr>
            <a:r>
              <a:rPr lang="en-US" dirty="0"/>
              <a:t>Designed a non-intrusive, attach-only protection model to ensure zero disruption to existing ALB traffic paths.</a:t>
            </a:r>
          </a:p>
          <a:p>
            <a:endParaRPr lang="en-US" dirty="0"/>
          </a:p>
          <a:p>
            <a:pPr marL="285750" indent="-285750">
              <a:buFont typeface="Arial" panose="020B0604020202020204" pitchFamily="34" charset="0"/>
              <a:buChar char="•"/>
            </a:pPr>
            <a:r>
              <a:rPr lang="en-US" dirty="0"/>
              <a:t>Led technical reviews with Application Security, Landing Zone, SOC, and Azure teams to align on design, governance, and operational readiness.</a:t>
            </a:r>
          </a:p>
          <a:p>
            <a:endParaRPr lang="en-US" dirty="0"/>
          </a:p>
          <a:p>
            <a:pPr marL="285750" indent="-285750">
              <a:buFont typeface="Arial" panose="020B0604020202020204" pitchFamily="34" charset="0"/>
              <a:buChar char="•"/>
            </a:pPr>
            <a:r>
              <a:rPr lang="en-US" dirty="0"/>
              <a:t>Developed the full automation stack using Terraform and Python (Lambda), including unit tests with Moto for safe validation.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Worked directly with application teams to test ALB onboarding flows, validate behaviors, and generate staging/production evidence.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Produced CAB-level artefacts including runbooks, rollback plans, testing evidence, and risk controls required for production release.</a:t>
            </a:r>
            <a:endParaRPr lang="en-GB" dirty="0"/>
          </a:p>
        </p:txBody>
      </p:sp>
    </p:spTree>
    <p:extLst>
      <p:ext uri="{BB962C8B-B14F-4D97-AF65-F5344CB8AC3E}">
        <p14:creationId xmlns:p14="http://schemas.microsoft.com/office/powerpoint/2010/main" val="2089695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487837" y="2732147"/>
            <a:ext cx="5860051" cy="395784"/>
            <a:chOff x="6081624" y="1998368"/>
            <a:chExt cx="5613457" cy="782175"/>
          </a:xfrm>
          <a:solidFill>
            <a:schemeClr val="accent4"/>
          </a:solidFill>
        </p:grpSpPr>
        <p:sp>
          <p:nvSpPr>
            <p:cNvPr id="32" name="Rectangle 31">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 name="Rectangle 50">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87CFC7-F343-C582-609F-5093950C37A8}"/>
              </a:ext>
            </a:extLst>
          </p:cNvPr>
          <p:cNvSpPr>
            <a:spLocks noGrp="1"/>
          </p:cNvSpPr>
          <p:nvPr>
            <p:ph type="title"/>
          </p:nvPr>
        </p:nvSpPr>
        <p:spPr>
          <a:xfrm>
            <a:off x="962222" y="97255"/>
            <a:ext cx="7387313" cy="425258"/>
          </a:xfrm>
        </p:spPr>
        <p:txBody>
          <a:bodyPr anchor="b">
            <a:normAutofit fontScale="90000"/>
          </a:bodyPr>
          <a:lstStyle/>
          <a:p>
            <a:pPr>
              <a:lnSpc>
                <a:spcPct val="90000"/>
              </a:lnSpc>
            </a:pPr>
            <a:r>
              <a:rPr lang="en-US" sz="2800" dirty="0"/>
              <a:t>The Solution – Automated ALB Protection</a:t>
            </a:r>
            <a:endParaRPr lang="en-GB" sz="2800" dirty="0"/>
          </a:p>
        </p:txBody>
      </p:sp>
      <p:pic>
        <p:nvPicPr>
          <p:cNvPr id="3" name="Picture 2" descr="A diagram of a network&#10;&#10;AI-generated content may be incorrect.">
            <a:extLst>
              <a:ext uri="{FF2B5EF4-FFF2-40B4-BE49-F238E27FC236}">
                <a16:creationId xmlns:a16="http://schemas.microsoft.com/office/drawing/2014/main" id="{921D5415-8AB9-F98E-2AE5-675FC3AE1681}"/>
              </a:ext>
            </a:extLst>
          </p:cNvPr>
          <p:cNvPicPr>
            <a:picLocks noChangeAspect="1"/>
          </p:cNvPicPr>
          <p:nvPr/>
        </p:nvPicPr>
        <p:blipFill>
          <a:blip r:embed="rId2"/>
          <a:stretch>
            <a:fillRect/>
          </a:stretch>
        </p:blipFill>
        <p:spPr>
          <a:xfrm>
            <a:off x="434646" y="1654629"/>
            <a:ext cx="8464818" cy="4104326"/>
          </a:xfrm>
          <a:prstGeom prst="rect">
            <a:avLst/>
          </a:prstGeom>
        </p:spPr>
      </p:pic>
      <p:sp>
        <p:nvSpPr>
          <p:cNvPr id="8" name="TextBox 7">
            <a:extLst>
              <a:ext uri="{FF2B5EF4-FFF2-40B4-BE49-F238E27FC236}">
                <a16:creationId xmlns:a16="http://schemas.microsoft.com/office/drawing/2014/main" id="{C28891FF-1238-1498-E7A3-D4E3BCA30333}"/>
              </a:ext>
            </a:extLst>
          </p:cNvPr>
          <p:cNvSpPr txBox="1"/>
          <p:nvPr/>
        </p:nvSpPr>
        <p:spPr>
          <a:xfrm>
            <a:off x="884137" y="573468"/>
            <a:ext cx="7685098" cy="840230"/>
          </a:xfrm>
          <a:prstGeom prst="rect">
            <a:avLst/>
          </a:prstGeom>
          <a:noFill/>
        </p:spPr>
        <p:txBody>
          <a:bodyPr wrap="square">
            <a:spAutoFit/>
          </a:bodyPr>
          <a:lstStyle/>
          <a:p>
            <a:pPr marL="0" indent="0" defTabSz="914400" eaLnBrk="0" fontAlgn="base" hangingPunct="0">
              <a:lnSpc>
                <a:spcPct val="90000"/>
              </a:lnSpc>
              <a:spcBef>
                <a:spcPct val="0"/>
              </a:spcBef>
              <a:spcAft>
                <a:spcPts val="600"/>
              </a:spcAft>
              <a:buNone/>
            </a:pPr>
            <a:r>
              <a:rPr lang="en-US" sz="1800" dirty="0"/>
              <a:t>Event-driven </a:t>
            </a:r>
            <a:r>
              <a:rPr lang="en-US" dirty="0"/>
              <a:t>solution </a:t>
            </a:r>
            <a:r>
              <a:rPr lang="en-US" sz="1800" dirty="0"/>
              <a:t>listens for ALB create/delete events and automatically</a:t>
            </a:r>
            <a:r>
              <a:rPr lang="en-US" dirty="0"/>
              <a:t> enables the Shield Advance protection layer for the respective ALB. No additional pipeline runs required.</a:t>
            </a:r>
            <a:endParaRPr lang="en-US" sz="1800" dirty="0"/>
          </a:p>
        </p:txBody>
      </p:sp>
    </p:spTree>
    <p:extLst>
      <p:ext uri="{BB962C8B-B14F-4D97-AF65-F5344CB8AC3E}">
        <p14:creationId xmlns:p14="http://schemas.microsoft.com/office/powerpoint/2010/main" val="1738967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82901-F5A5-D44D-DAC4-196873F338EC}"/>
            </a:ext>
          </a:extLst>
        </p:cNvPr>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037D265-A18D-E199-9874-4E897294CF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DD28628-E377-054D-2ECC-BE40F2A740F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5400000">
            <a:off x="-2487837" y="2732147"/>
            <a:ext cx="5860051" cy="395784"/>
            <a:chOff x="6081624" y="1998368"/>
            <a:chExt cx="5613457" cy="782175"/>
          </a:xfrm>
          <a:solidFill>
            <a:schemeClr val="accent4"/>
          </a:solidFill>
        </p:grpSpPr>
        <p:sp>
          <p:nvSpPr>
            <p:cNvPr id="6" name="Rectangle 5">
              <a:extLst>
                <a:ext uri="{FF2B5EF4-FFF2-40B4-BE49-F238E27FC236}">
                  <a16:creationId xmlns:a16="http://schemas.microsoft.com/office/drawing/2014/main" id="{3301189B-AD4E-F1DD-34EC-778DC36F5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8B5A29A-BB15-BE44-46E2-36120CD505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Rectangle 7">
            <a:extLst>
              <a:ext uri="{FF2B5EF4-FFF2-40B4-BE49-F238E27FC236}">
                <a16:creationId xmlns:a16="http://schemas.microsoft.com/office/drawing/2014/main" id="{3BB6D5BB-02A6-EA20-C410-EF5CD9902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4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1F92EC4C-DF0B-60F2-6D47-FAC123D5DF06}"/>
              </a:ext>
            </a:extLst>
          </p:cNvPr>
          <p:cNvSpPr>
            <a:spLocks noGrp="1"/>
          </p:cNvSpPr>
          <p:nvPr>
            <p:ph type="title"/>
          </p:nvPr>
        </p:nvSpPr>
        <p:spPr>
          <a:xfrm>
            <a:off x="962222" y="149509"/>
            <a:ext cx="7387313" cy="433966"/>
          </a:xfrm>
        </p:spPr>
        <p:txBody>
          <a:bodyPr anchor="b">
            <a:normAutofit fontScale="90000"/>
          </a:bodyPr>
          <a:lstStyle/>
          <a:p>
            <a:pPr>
              <a:lnSpc>
                <a:spcPct val="90000"/>
              </a:lnSpc>
            </a:pPr>
            <a:r>
              <a:rPr lang="en-US" sz="3200" dirty="0"/>
              <a:t>Architectural and Design Considerations</a:t>
            </a:r>
            <a:endParaRPr lang="en-GB" sz="3200" dirty="0"/>
          </a:p>
        </p:txBody>
      </p:sp>
      <p:sp>
        <p:nvSpPr>
          <p:cNvPr id="10" name="Rectangle 1">
            <a:extLst>
              <a:ext uri="{FF2B5EF4-FFF2-40B4-BE49-F238E27FC236}">
                <a16:creationId xmlns:a16="http://schemas.microsoft.com/office/drawing/2014/main" id="{C2643B57-6553-658F-DDDB-C5B20D5D6498}"/>
              </a:ext>
            </a:extLst>
          </p:cNvPr>
          <p:cNvSpPr>
            <a:spLocks noGrp="1" noChangeArrowheads="1"/>
          </p:cNvSpPr>
          <p:nvPr>
            <p:ph idx="1"/>
          </p:nvPr>
        </p:nvSpPr>
        <p:spPr bwMode="auto">
          <a:xfrm>
            <a:off x="891104" y="619582"/>
            <a:ext cx="7626074" cy="462856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Autofit/>
          </a:bodyPr>
          <a:lstStyle/>
          <a:p>
            <a:pPr marL="228600" indent="-228600">
              <a:buFont typeface="+mj-lt"/>
              <a:buAutoNum type="arabicPeriod"/>
            </a:pPr>
            <a:r>
              <a:rPr lang="en-US" sz="1600" b="1" dirty="0"/>
              <a:t>Integrating the protection workflow into CI/CD pipelines</a:t>
            </a:r>
          </a:p>
          <a:p>
            <a:pPr lvl="1" indent="-342900">
              <a:buFont typeface="+mj-lt"/>
              <a:buAutoNum type="alphaLcPeriod"/>
            </a:pPr>
            <a:r>
              <a:rPr lang="en-US" sz="1600" dirty="0"/>
              <a:t>ALB ARN is not available during pipeline execution; the ALB is created asynchronously by the AWS Load Balancer Controller, and creation latency varied. </a:t>
            </a:r>
          </a:p>
          <a:p>
            <a:pPr lvl="1" indent="-342900">
              <a:buFont typeface="+mj-lt"/>
              <a:buAutoNum type="alphaLcPeriod"/>
            </a:pPr>
            <a:r>
              <a:rPr lang="en-US" sz="1600" dirty="0"/>
              <a:t>Technically unreliable to attach WAF and Shield Advanced within the same pipeline run. </a:t>
            </a:r>
          </a:p>
          <a:p>
            <a:pPr lvl="1" indent="-342900">
              <a:buFont typeface="+mj-lt"/>
              <a:buAutoNum type="alphaLcPeriod"/>
            </a:pPr>
            <a:r>
              <a:rPr lang="en-US" sz="1600" dirty="0"/>
              <a:t>Additionally, embedding this into CI/CD would couple application deployment with security infrastructure updates, forcing a full application redeploy for security-only changes, which is technically inefficient and increases blast radius.</a:t>
            </a:r>
          </a:p>
          <a:p>
            <a:pPr marL="228600" indent="-228600">
              <a:buFont typeface="+mj-lt"/>
              <a:buAutoNum type="arabicPeriod"/>
            </a:pPr>
            <a:r>
              <a:rPr lang="en-US" sz="1600" b="1" dirty="0"/>
              <a:t>Centralized </a:t>
            </a:r>
            <a:r>
              <a:rPr lang="en-US" sz="1600" b="1" dirty="0" err="1"/>
              <a:t>IaC</a:t>
            </a:r>
            <a:r>
              <a:rPr lang="en-US" sz="1600" b="1" dirty="0"/>
              <a:t> deployment from a shared “platform” account</a:t>
            </a:r>
          </a:p>
          <a:p>
            <a:pPr lvl="1" indent="-342900">
              <a:buFont typeface="+mj-lt"/>
              <a:buAutoNum type="alphaLcPeriod"/>
            </a:pPr>
            <a:r>
              <a:rPr lang="en-US" sz="1600" dirty="0"/>
              <a:t>A centralized deployment model was considered, but it conflicted with account-level ownership. </a:t>
            </a:r>
          </a:p>
          <a:p>
            <a:pPr lvl="1" indent="-342900">
              <a:buFont typeface="+mj-lt"/>
              <a:buAutoNum type="alphaLcPeriod"/>
            </a:pPr>
            <a:r>
              <a:rPr lang="en-US" sz="1600" dirty="0"/>
              <a:t>Spoke teams manage their own Terraform stacks, state, and change windows. </a:t>
            </a:r>
          </a:p>
          <a:p>
            <a:pPr marL="228600" indent="-228600">
              <a:buFont typeface="+mj-lt"/>
              <a:buAutoNum type="arabicPeriod"/>
            </a:pPr>
            <a:r>
              <a:rPr lang="en-US" sz="1600" b="1" dirty="0"/>
              <a:t>Using Step Functions for orchestration</a:t>
            </a:r>
            <a:br>
              <a:rPr lang="en-US" sz="1600" dirty="0"/>
            </a:br>
            <a:r>
              <a:rPr lang="en-US" sz="1600" dirty="0"/>
              <a:t>Step Functions was evaluated but not chosen because the workflow was linear, short-lived, and required no branching or wait states.  A single Lambda was simpler, faster, and easier to maintain.</a:t>
            </a:r>
          </a:p>
        </p:txBody>
      </p:sp>
    </p:spTree>
    <p:extLst>
      <p:ext uri="{BB962C8B-B14F-4D97-AF65-F5344CB8AC3E}">
        <p14:creationId xmlns:p14="http://schemas.microsoft.com/office/powerpoint/2010/main" val="1013861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B7F1B-9EC7-C933-109D-0AD0D0EC4685}"/>
            </a:ext>
          </a:extLst>
        </p:cNvPr>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C33523B7-0C85-5FFD-2FEE-F42D3DFAF3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B212B515-6DF4-0C4D-CEF9-F7A95CBCCA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5400000">
            <a:off x="-2487837" y="2732147"/>
            <a:ext cx="5860051" cy="395784"/>
            <a:chOff x="6081624" y="1998368"/>
            <a:chExt cx="5613457" cy="782175"/>
          </a:xfrm>
          <a:solidFill>
            <a:schemeClr val="accent4"/>
          </a:solidFill>
        </p:grpSpPr>
        <p:sp>
          <p:nvSpPr>
            <p:cNvPr id="6" name="Rectangle 5">
              <a:extLst>
                <a:ext uri="{FF2B5EF4-FFF2-40B4-BE49-F238E27FC236}">
                  <a16:creationId xmlns:a16="http://schemas.microsoft.com/office/drawing/2014/main" id="{31C27B7E-E7F8-2CB1-7C90-8D20BFC80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7680515-11ED-3EE9-07FC-794B09498B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Rectangle 7">
            <a:extLst>
              <a:ext uri="{FF2B5EF4-FFF2-40B4-BE49-F238E27FC236}">
                <a16:creationId xmlns:a16="http://schemas.microsoft.com/office/drawing/2014/main" id="{B64271B9-F763-A350-C55D-D2FC951212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4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06E6BAE6-8E4F-EDAC-0679-CECB81B5FF26}"/>
              </a:ext>
            </a:extLst>
          </p:cNvPr>
          <p:cNvSpPr>
            <a:spLocks noGrp="1"/>
          </p:cNvSpPr>
          <p:nvPr>
            <p:ph type="title"/>
          </p:nvPr>
        </p:nvSpPr>
        <p:spPr>
          <a:xfrm>
            <a:off x="962222" y="149509"/>
            <a:ext cx="7387313" cy="433966"/>
          </a:xfrm>
        </p:spPr>
        <p:txBody>
          <a:bodyPr anchor="b">
            <a:normAutofit fontScale="90000"/>
          </a:bodyPr>
          <a:lstStyle/>
          <a:p>
            <a:pPr>
              <a:lnSpc>
                <a:spcPct val="90000"/>
              </a:lnSpc>
            </a:pPr>
            <a:r>
              <a:rPr lang="en-US" sz="3200" dirty="0"/>
              <a:t>Security Considerations</a:t>
            </a:r>
            <a:endParaRPr lang="en-GB" sz="3200" dirty="0"/>
          </a:p>
        </p:txBody>
      </p:sp>
      <p:sp>
        <p:nvSpPr>
          <p:cNvPr id="10" name="Rectangle 1">
            <a:extLst>
              <a:ext uri="{FF2B5EF4-FFF2-40B4-BE49-F238E27FC236}">
                <a16:creationId xmlns:a16="http://schemas.microsoft.com/office/drawing/2014/main" id="{76F99699-2D1F-DD40-F455-AEEEB8E3DB08}"/>
              </a:ext>
            </a:extLst>
          </p:cNvPr>
          <p:cNvSpPr>
            <a:spLocks noGrp="1" noChangeArrowheads="1"/>
          </p:cNvSpPr>
          <p:nvPr>
            <p:ph idx="1"/>
          </p:nvPr>
        </p:nvSpPr>
        <p:spPr bwMode="auto">
          <a:xfrm>
            <a:off x="891104" y="619582"/>
            <a:ext cx="7626074" cy="531549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Autofit/>
          </a:bodyPr>
          <a:lstStyle/>
          <a:p>
            <a:pPr marL="228600" indent="-228600">
              <a:buFont typeface="+mj-lt"/>
              <a:buAutoNum type="arabicPeriod"/>
            </a:pPr>
            <a:r>
              <a:rPr lang="en-GB" sz="1400" dirty="0"/>
              <a:t>IAM Roles &amp; Access Boundaries</a:t>
            </a:r>
          </a:p>
          <a:p>
            <a:pPr marL="628650" lvl="1" indent="-228600">
              <a:buFont typeface="+mj-lt"/>
              <a:buAutoNum type="arabicPeriod"/>
            </a:pPr>
            <a:r>
              <a:rPr lang="en-US" sz="1400" b="1" dirty="0" err="1"/>
              <a:t>IaC</a:t>
            </a:r>
            <a:r>
              <a:rPr lang="en-US" sz="1400" b="1" dirty="0"/>
              <a:t> Deployment Role</a:t>
            </a:r>
            <a:r>
              <a:rPr lang="en-US" sz="1400" dirty="0"/>
              <a:t> – provisions </a:t>
            </a:r>
            <a:r>
              <a:rPr lang="en-US" sz="1400" dirty="0" err="1"/>
              <a:t>EventBridge</a:t>
            </a:r>
            <a:r>
              <a:rPr lang="en-US" sz="1400" dirty="0"/>
              <a:t> rules, deploys the EDA Lambda, creates the Kinesis Firehose stream, and configures WAF logging (Kinesis→S3). </a:t>
            </a:r>
            <a:r>
              <a:rPr lang="en-GB" sz="1400" dirty="0"/>
              <a:t>.</a:t>
            </a:r>
          </a:p>
          <a:p>
            <a:pPr marL="628650" lvl="1" indent="-228600">
              <a:buFont typeface="+mj-lt"/>
              <a:buAutoNum type="arabicPeriod"/>
            </a:pPr>
            <a:r>
              <a:rPr lang="en-GB" sz="1400" b="1" dirty="0"/>
              <a:t>EDA Lambda Execution Role</a:t>
            </a:r>
            <a:r>
              <a:rPr lang="en-GB" sz="1400" dirty="0"/>
              <a:t> – least-privilege permissions for Shield Advanced (attach/delete), WAF </a:t>
            </a:r>
            <a:r>
              <a:rPr lang="en-GB" sz="1400" dirty="0" err="1"/>
              <a:t>WebACL</a:t>
            </a:r>
            <a:r>
              <a:rPr lang="en-GB" sz="1400" dirty="0"/>
              <a:t> association, Route53 health checks, DynamoDB metadata operations, and CloudWatch logging.</a:t>
            </a:r>
          </a:p>
          <a:p>
            <a:pPr marL="628650" lvl="1" indent="-228600">
              <a:buFont typeface="+mj-lt"/>
              <a:buAutoNum type="arabicPeriod"/>
            </a:pPr>
            <a:r>
              <a:rPr lang="en-US" sz="1400" b="1" dirty="0" err="1"/>
              <a:t>EventBridge</a:t>
            </a:r>
            <a:r>
              <a:rPr lang="en-US" sz="1400" dirty="0"/>
              <a:t> → Lambda Invoke Role – minimal </a:t>
            </a:r>
            <a:r>
              <a:rPr lang="en-US" sz="1400" dirty="0" err="1"/>
              <a:t>lambda:InvokeFunction</a:t>
            </a:r>
            <a:r>
              <a:rPr lang="en-US" sz="1400" dirty="0"/>
              <a:t> access.</a:t>
            </a:r>
          </a:p>
          <a:p>
            <a:pPr marL="628650" lvl="1" indent="-228600">
              <a:buFont typeface="+mj-lt"/>
              <a:buAutoNum type="arabicPeriod"/>
            </a:pPr>
            <a:r>
              <a:rPr lang="en-US" sz="1400" b="1" dirty="0"/>
              <a:t>Firehose Delivery Role </a:t>
            </a:r>
            <a:r>
              <a:rPr lang="en-US" sz="1400" dirty="0"/>
              <a:t>– cross-account, write-only role enabling Kinesis Firehose to deliver WAF logs into the central S3 logging bucket, with the bucket policy updated to allow only the required S3 permissions (</a:t>
            </a:r>
            <a:r>
              <a:rPr lang="en-US" sz="1400" dirty="0" err="1"/>
              <a:t>PutObject</a:t>
            </a:r>
            <a:r>
              <a:rPr lang="en-US" sz="1400" dirty="0"/>
              <a:t>, multipart upload).</a:t>
            </a:r>
          </a:p>
          <a:p>
            <a:pPr>
              <a:buFont typeface="+mj-lt"/>
              <a:buAutoNum type="arabicPeriod"/>
            </a:pPr>
            <a:r>
              <a:rPr lang="en-US" sz="1400" b="1" dirty="0"/>
              <a:t>Security Controls &amp; Protections</a:t>
            </a:r>
          </a:p>
          <a:p>
            <a:pPr lvl="1">
              <a:buFont typeface="+mj-lt"/>
              <a:buAutoNum type="arabicPeriod"/>
            </a:pPr>
            <a:r>
              <a:rPr lang="en-US" sz="1400" dirty="0"/>
              <a:t>Shield Advanced auto-baselining with WAF in </a:t>
            </a:r>
            <a:r>
              <a:rPr lang="en-US" sz="1400" b="1" dirty="0"/>
              <a:t>count mode</a:t>
            </a:r>
            <a:r>
              <a:rPr lang="en-US" sz="1400" dirty="0"/>
              <a:t> for ~2 weeks before enabling blocking.</a:t>
            </a:r>
          </a:p>
          <a:p>
            <a:pPr lvl="1">
              <a:buFont typeface="+mj-lt"/>
              <a:buAutoNum type="arabicPeriod"/>
            </a:pPr>
            <a:r>
              <a:rPr lang="en-US" sz="1400" dirty="0"/>
              <a:t>Route53 health checks configured for SRT Proactive Engagement readiness.</a:t>
            </a:r>
          </a:p>
          <a:p>
            <a:pPr lvl="1">
              <a:buFont typeface="+mj-lt"/>
              <a:buAutoNum type="arabicPeriod"/>
            </a:pPr>
            <a:r>
              <a:rPr lang="en-US" sz="1400" dirty="0"/>
              <a:t>WAF logging flows through </a:t>
            </a:r>
            <a:r>
              <a:rPr lang="en-US" sz="1400" b="1" dirty="0"/>
              <a:t>Kinesis → S3 → Sentinel</a:t>
            </a:r>
            <a:r>
              <a:rPr lang="en-US" sz="1400" dirty="0"/>
              <a:t>, with bucket-level encryption and restrictive bucket policies.</a:t>
            </a:r>
          </a:p>
          <a:p>
            <a:pPr>
              <a:buFont typeface="+mj-lt"/>
              <a:buAutoNum type="arabicPeriod"/>
            </a:pPr>
            <a:r>
              <a:rPr lang="en-US" sz="1400" b="1" dirty="0"/>
              <a:t>Rate-limit and WAF rule drift</a:t>
            </a:r>
          </a:p>
          <a:p>
            <a:pPr marL="0" indent="0">
              <a:buNone/>
            </a:pPr>
            <a:r>
              <a:rPr lang="en-US" sz="1400" dirty="0"/>
              <a:t>Traffic patterns evolve over time and WAF/rate-limit baselines can drift, requiring periodic re-baselining. This drift detection automation and alerting is outside the scope of this automation but highlighted as a future enhancement.</a:t>
            </a:r>
          </a:p>
        </p:txBody>
      </p:sp>
    </p:spTree>
    <p:extLst>
      <p:ext uri="{BB962C8B-B14F-4D97-AF65-F5344CB8AC3E}">
        <p14:creationId xmlns:p14="http://schemas.microsoft.com/office/powerpoint/2010/main" val="688414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3DADA44F-D345-E7BA-6008-4006202D89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964A4E4C-0F33-80A2-0AB0-F8281DA109C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5400000">
            <a:off x="-2487837" y="2732147"/>
            <a:ext cx="5860051" cy="395784"/>
            <a:chOff x="6081624" y="1998368"/>
            <a:chExt cx="5613457" cy="782175"/>
          </a:xfrm>
          <a:solidFill>
            <a:schemeClr val="accent4"/>
          </a:solidFill>
        </p:grpSpPr>
        <p:sp>
          <p:nvSpPr>
            <p:cNvPr id="6" name="Rectangle 5">
              <a:extLst>
                <a:ext uri="{FF2B5EF4-FFF2-40B4-BE49-F238E27FC236}">
                  <a16:creationId xmlns:a16="http://schemas.microsoft.com/office/drawing/2014/main" id="{32C18A04-E855-3045-A607-A495E6B348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35A2C83-3F0B-F044-B0C1-A86E3C88FC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Rectangle 7">
            <a:extLst>
              <a:ext uri="{FF2B5EF4-FFF2-40B4-BE49-F238E27FC236}">
                <a16:creationId xmlns:a16="http://schemas.microsoft.com/office/drawing/2014/main" id="{B284F1E8-D710-B44C-B1D7-60F03B9FE5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4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91FFB1BB-9777-A427-D2A0-6B49BA1D4989}"/>
              </a:ext>
            </a:extLst>
          </p:cNvPr>
          <p:cNvSpPr>
            <a:spLocks noGrp="1"/>
          </p:cNvSpPr>
          <p:nvPr>
            <p:ph type="title"/>
          </p:nvPr>
        </p:nvSpPr>
        <p:spPr>
          <a:xfrm>
            <a:off x="962222" y="149509"/>
            <a:ext cx="7387313" cy="433966"/>
          </a:xfrm>
        </p:spPr>
        <p:txBody>
          <a:bodyPr anchor="b">
            <a:normAutofit fontScale="90000"/>
          </a:bodyPr>
          <a:lstStyle/>
          <a:p>
            <a:pPr>
              <a:lnSpc>
                <a:spcPct val="90000"/>
              </a:lnSpc>
            </a:pPr>
            <a:r>
              <a:rPr lang="en-US" sz="3200" dirty="0"/>
              <a:t>Shield Advance Protection</a:t>
            </a:r>
            <a:endParaRPr lang="en-GB" sz="3200" dirty="0"/>
          </a:p>
        </p:txBody>
      </p:sp>
      <p:sp>
        <p:nvSpPr>
          <p:cNvPr id="10" name="Rectangle 1">
            <a:extLst>
              <a:ext uri="{FF2B5EF4-FFF2-40B4-BE49-F238E27FC236}">
                <a16:creationId xmlns:a16="http://schemas.microsoft.com/office/drawing/2014/main" id="{E93DF429-6DCA-0767-7A4D-BC3D10E6E965}"/>
              </a:ext>
            </a:extLst>
          </p:cNvPr>
          <p:cNvSpPr>
            <a:spLocks noGrp="1" noChangeArrowheads="1"/>
          </p:cNvSpPr>
          <p:nvPr>
            <p:ph idx="1"/>
          </p:nvPr>
        </p:nvSpPr>
        <p:spPr bwMode="auto">
          <a:xfrm>
            <a:off x="891104" y="619582"/>
            <a:ext cx="7626074" cy="462856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indent="0" defTabSz="914400" eaLnBrk="0" fontAlgn="base" hangingPunct="0">
              <a:lnSpc>
                <a:spcPct val="90000"/>
              </a:lnSpc>
              <a:spcBef>
                <a:spcPct val="0"/>
              </a:spcBef>
              <a:spcAft>
                <a:spcPts val="600"/>
              </a:spcAft>
              <a:buNone/>
            </a:pPr>
            <a:r>
              <a:rPr lang="en-US" sz="1600" dirty="0"/>
              <a:t>The EDA listens for ALB create/delete events and automatically:</a:t>
            </a:r>
          </a:p>
          <a:p>
            <a:pPr defTabSz="914400" eaLnBrk="0" fontAlgn="base" hangingPunct="0">
              <a:lnSpc>
                <a:spcPct val="90000"/>
              </a:lnSpc>
              <a:spcBef>
                <a:spcPct val="0"/>
              </a:spcBef>
              <a:spcAft>
                <a:spcPts val="600"/>
              </a:spcAft>
              <a:buFont typeface="+mj-lt"/>
              <a:buAutoNum type="arabicPeriod"/>
            </a:pPr>
            <a:r>
              <a:rPr lang="en-US" sz="1600" dirty="0"/>
              <a:t>Create Route53 health check </a:t>
            </a:r>
          </a:p>
          <a:p>
            <a:pPr defTabSz="914400" eaLnBrk="0" fontAlgn="base" hangingPunct="0">
              <a:lnSpc>
                <a:spcPct val="90000"/>
              </a:lnSpc>
              <a:spcBef>
                <a:spcPct val="0"/>
              </a:spcBef>
              <a:spcAft>
                <a:spcPts val="600"/>
              </a:spcAft>
              <a:buFont typeface="+mj-lt"/>
              <a:buAutoNum type="arabicPeriod"/>
            </a:pPr>
            <a:r>
              <a:rPr lang="en-US" sz="1600" dirty="0"/>
              <a:t>Associates the ALB with WAF </a:t>
            </a:r>
            <a:r>
              <a:rPr lang="en-US" sz="1600" dirty="0" err="1"/>
              <a:t>WebACL</a:t>
            </a:r>
            <a:r>
              <a:rPr lang="en-US" sz="1600" dirty="0"/>
              <a:t>. </a:t>
            </a:r>
          </a:p>
          <a:p>
            <a:pPr defTabSz="914400" eaLnBrk="0" fontAlgn="base" hangingPunct="0">
              <a:lnSpc>
                <a:spcPct val="90000"/>
              </a:lnSpc>
              <a:spcBef>
                <a:spcPct val="0"/>
              </a:spcBef>
              <a:spcAft>
                <a:spcPts val="600"/>
              </a:spcAft>
              <a:buFont typeface="+mj-lt"/>
              <a:buAutoNum type="arabicPeriod"/>
            </a:pPr>
            <a:r>
              <a:rPr lang="en-US" sz="1600" dirty="0"/>
              <a:t>Attaches ALB/Route53 </a:t>
            </a:r>
            <a:r>
              <a:rPr lang="en-US" sz="1600" dirty="0" err="1"/>
              <a:t>healthcheck</a:t>
            </a:r>
            <a:r>
              <a:rPr lang="en-US" sz="1600" dirty="0"/>
              <a:t>/</a:t>
            </a:r>
            <a:r>
              <a:rPr lang="en-US" sz="1600" dirty="0" err="1"/>
              <a:t>WebAcl</a:t>
            </a:r>
            <a:r>
              <a:rPr lang="en-US" sz="1600" dirty="0"/>
              <a:t> to Shield Advanced </a:t>
            </a:r>
          </a:p>
          <a:p>
            <a:pPr defTabSz="914400" eaLnBrk="0" fontAlgn="base" hangingPunct="0">
              <a:lnSpc>
                <a:spcPct val="90000"/>
              </a:lnSpc>
              <a:spcBef>
                <a:spcPct val="0"/>
              </a:spcBef>
              <a:spcAft>
                <a:spcPts val="600"/>
              </a:spcAft>
              <a:buFont typeface="+mj-lt"/>
              <a:buAutoNum type="arabicPeriod"/>
            </a:pPr>
            <a:r>
              <a:rPr lang="en-US" sz="1600" dirty="0"/>
              <a:t>Enable automatic mitigation </a:t>
            </a:r>
          </a:p>
          <a:p>
            <a:pPr defTabSz="914400" eaLnBrk="0" fontAlgn="base" hangingPunct="0">
              <a:lnSpc>
                <a:spcPct val="90000"/>
              </a:lnSpc>
              <a:spcBef>
                <a:spcPct val="0"/>
              </a:spcBef>
              <a:spcAft>
                <a:spcPts val="600"/>
              </a:spcAft>
              <a:buFont typeface="+mj-lt"/>
              <a:buAutoNum type="arabicPeriod"/>
            </a:pPr>
            <a:r>
              <a:rPr lang="en-US" sz="1600" dirty="0"/>
              <a:t>Enable SRT proactive engagement </a:t>
            </a:r>
          </a:p>
          <a:p>
            <a:pPr defTabSz="914400" eaLnBrk="0" fontAlgn="base" hangingPunct="0">
              <a:lnSpc>
                <a:spcPct val="90000"/>
              </a:lnSpc>
              <a:spcBef>
                <a:spcPct val="0"/>
              </a:spcBef>
              <a:spcAft>
                <a:spcPts val="600"/>
              </a:spcAft>
              <a:buFont typeface="+mj-lt"/>
              <a:buAutoNum type="arabicPeriod"/>
            </a:pPr>
            <a:r>
              <a:rPr lang="en-US" sz="1600" dirty="0"/>
              <a:t>Enables centralized WAF logging S3 (integrated with Sentinel for SIEM/SOAR.) </a:t>
            </a:r>
          </a:p>
          <a:p>
            <a:pPr defTabSz="914400" eaLnBrk="0" fontAlgn="base" hangingPunct="0">
              <a:lnSpc>
                <a:spcPct val="90000"/>
              </a:lnSpc>
              <a:spcBef>
                <a:spcPct val="0"/>
              </a:spcBef>
              <a:spcAft>
                <a:spcPts val="600"/>
              </a:spcAft>
              <a:buFont typeface="+mj-lt"/>
              <a:buAutoNum type="arabicPeriod"/>
            </a:pPr>
            <a:r>
              <a:rPr lang="en-US" sz="1600" dirty="0"/>
              <a:t>Clean-up orphaned health checks and WAF </a:t>
            </a:r>
            <a:r>
              <a:rPr lang="en-US" sz="1600" dirty="0" err="1"/>
              <a:t>WebAcls</a:t>
            </a:r>
            <a:r>
              <a:rPr lang="en-US" sz="1600" dirty="0"/>
              <a:t> on ALB deletion</a:t>
            </a:r>
          </a:p>
          <a:p>
            <a:pPr marL="0" indent="0" defTabSz="914400" eaLnBrk="0" fontAlgn="base" hangingPunct="0">
              <a:lnSpc>
                <a:spcPct val="90000"/>
              </a:lnSpc>
              <a:spcBef>
                <a:spcPct val="0"/>
              </a:spcBef>
              <a:spcAft>
                <a:spcPts val="600"/>
              </a:spcAft>
              <a:buNone/>
            </a:pPr>
            <a:endParaRPr lang="en-US" sz="1600" dirty="0"/>
          </a:p>
          <a:p>
            <a:pPr marL="0" indent="0" defTabSz="914400" eaLnBrk="0" fontAlgn="base" hangingPunct="0">
              <a:lnSpc>
                <a:spcPct val="90000"/>
              </a:lnSpc>
              <a:spcBef>
                <a:spcPct val="0"/>
              </a:spcBef>
              <a:spcAft>
                <a:spcPts val="600"/>
              </a:spcAft>
              <a:buNone/>
            </a:pPr>
            <a:r>
              <a:rPr lang="en-US" sz="1600" b="1" i="1" u="sng" dirty="0"/>
              <a:t>Business Impact</a:t>
            </a:r>
          </a:p>
          <a:p>
            <a:pPr>
              <a:lnSpc>
                <a:spcPct val="90000"/>
              </a:lnSpc>
            </a:pPr>
            <a:r>
              <a:rPr lang="en-US" sz="1600" dirty="0"/>
              <a:t>Significant operational efficiency and cost savings.</a:t>
            </a:r>
          </a:p>
          <a:p>
            <a:pPr>
              <a:lnSpc>
                <a:spcPct val="90000"/>
              </a:lnSpc>
            </a:pPr>
            <a:r>
              <a:rPr lang="en-US" sz="1600" dirty="0"/>
              <a:t>Consistent, compliant, and automated security controls across all EKS workloads.</a:t>
            </a:r>
          </a:p>
          <a:p>
            <a:pPr>
              <a:lnSpc>
                <a:spcPct val="90000"/>
              </a:lnSpc>
            </a:pPr>
            <a:r>
              <a:rPr lang="en-US" sz="1600" dirty="0"/>
              <a:t>Faster onboarding for new application teams and lower risk through automated protections.</a:t>
            </a:r>
          </a:p>
          <a:p>
            <a:r>
              <a:rPr lang="en-US" sz="1600" dirty="0"/>
              <a:t>Zero production downtime</a:t>
            </a:r>
          </a:p>
        </p:txBody>
      </p:sp>
    </p:spTree>
    <p:extLst>
      <p:ext uri="{BB962C8B-B14F-4D97-AF65-F5344CB8AC3E}">
        <p14:creationId xmlns:p14="http://schemas.microsoft.com/office/powerpoint/2010/main" val="3348586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8CF3073-A474-B345-D4E2-F6987BFCB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2BCE40B-C2EE-9271-A275-7D334BD413E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5400000">
            <a:off x="-2487837" y="2732147"/>
            <a:ext cx="5860051" cy="395784"/>
            <a:chOff x="6081624" y="1998368"/>
            <a:chExt cx="5613457" cy="782175"/>
          </a:xfrm>
          <a:solidFill>
            <a:schemeClr val="accent4"/>
          </a:solidFill>
        </p:grpSpPr>
        <p:sp>
          <p:nvSpPr>
            <p:cNvPr id="9" name="Rectangle 8">
              <a:extLst>
                <a:ext uri="{FF2B5EF4-FFF2-40B4-BE49-F238E27FC236}">
                  <a16:creationId xmlns:a16="http://schemas.microsoft.com/office/drawing/2014/main" id="{53AB17AE-6999-E5D3-AA3A-F3088D57E1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DA29C90-D1CA-5694-AD5C-E5DBAD6152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0B1147C9-C248-E211-2DB5-C578E03F0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4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B9FBE182-547A-61C0-267F-4413115F8CE8}"/>
              </a:ext>
            </a:extLst>
          </p:cNvPr>
          <p:cNvSpPr>
            <a:spLocks noGrp="1"/>
          </p:cNvSpPr>
          <p:nvPr>
            <p:ph type="title"/>
          </p:nvPr>
        </p:nvSpPr>
        <p:spPr>
          <a:xfrm>
            <a:off x="962222" y="149508"/>
            <a:ext cx="7387313" cy="300217"/>
          </a:xfrm>
        </p:spPr>
        <p:txBody>
          <a:bodyPr anchor="b">
            <a:normAutofit fontScale="90000"/>
          </a:bodyPr>
          <a:lstStyle/>
          <a:p>
            <a:pPr>
              <a:lnSpc>
                <a:spcPct val="90000"/>
              </a:lnSpc>
            </a:pPr>
            <a:r>
              <a:rPr lang="en-US" sz="2400" dirty="0"/>
              <a:t>Success Measure</a:t>
            </a:r>
            <a:endParaRPr lang="en-GB" sz="2400" dirty="0"/>
          </a:p>
        </p:txBody>
      </p:sp>
      <p:graphicFrame>
        <p:nvGraphicFramePr>
          <p:cNvPr id="16" name="Table 15">
            <a:extLst>
              <a:ext uri="{FF2B5EF4-FFF2-40B4-BE49-F238E27FC236}">
                <a16:creationId xmlns:a16="http://schemas.microsoft.com/office/drawing/2014/main" id="{B4B28716-91AE-31B7-7341-22047E4BE571}"/>
              </a:ext>
            </a:extLst>
          </p:cNvPr>
          <p:cNvGraphicFramePr>
            <a:graphicFrameLocks noGrp="1"/>
          </p:cNvGraphicFramePr>
          <p:nvPr>
            <p:extLst>
              <p:ext uri="{D42A27DB-BD31-4B8C-83A1-F6EECF244321}">
                <p14:modId xmlns:p14="http://schemas.microsoft.com/office/powerpoint/2010/main" val="3465707371"/>
              </p:ext>
            </p:extLst>
          </p:nvPr>
        </p:nvGraphicFramePr>
        <p:xfrm>
          <a:off x="533968" y="447847"/>
          <a:ext cx="8333797" cy="6253480"/>
        </p:xfrm>
        <a:graphic>
          <a:graphicData uri="http://schemas.openxmlformats.org/drawingml/2006/table">
            <a:tbl>
              <a:tblPr firstRow="1" bandRow="1">
                <a:tableStyleId>{5C22544A-7EE6-4342-B048-85BDC9FD1C3A}</a:tableStyleId>
              </a:tblPr>
              <a:tblGrid>
                <a:gridCol w="1330639">
                  <a:extLst>
                    <a:ext uri="{9D8B030D-6E8A-4147-A177-3AD203B41FA5}">
                      <a16:colId xmlns:a16="http://schemas.microsoft.com/office/drawing/2014/main" val="3137536553"/>
                    </a:ext>
                  </a:extLst>
                </a:gridCol>
                <a:gridCol w="2257069">
                  <a:extLst>
                    <a:ext uri="{9D8B030D-6E8A-4147-A177-3AD203B41FA5}">
                      <a16:colId xmlns:a16="http://schemas.microsoft.com/office/drawing/2014/main" val="1346363063"/>
                    </a:ext>
                  </a:extLst>
                </a:gridCol>
                <a:gridCol w="2174621">
                  <a:extLst>
                    <a:ext uri="{9D8B030D-6E8A-4147-A177-3AD203B41FA5}">
                      <a16:colId xmlns:a16="http://schemas.microsoft.com/office/drawing/2014/main" val="81566797"/>
                    </a:ext>
                  </a:extLst>
                </a:gridCol>
                <a:gridCol w="2571468">
                  <a:extLst>
                    <a:ext uri="{9D8B030D-6E8A-4147-A177-3AD203B41FA5}">
                      <a16:colId xmlns:a16="http://schemas.microsoft.com/office/drawing/2014/main" val="576476425"/>
                    </a:ext>
                  </a:extLst>
                </a:gridCol>
              </a:tblGrid>
              <a:tr h="370840">
                <a:tc>
                  <a:txBody>
                    <a:bodyPr/>
                    <a:lstStyle/>
                    <a:p>
                      <a:endParaRPr lang="en-GB" sz="1200" dirty="0"/>
                    </a:p>
                  </a:txBody>
                  <a:tcPr/>
                </a:tc>
                <a:tc>
                  <a:txBody>
                    <a:bodyPr/>
                    <a:lstStyle/>
                    <a:p>
                      <a:r>
                        <a:rPr lang="en-GB" sz="1200" dirty="0"/>
                        <a:t>Measure/Metric</a:t>
                      </a:r>
                    </a:p>
                  </a:txBody>
                  <a:tcPr/>
                </a:tc>
                <a:tc>
                  <a:txBody>
                    <a:bodyPr/>
                    <a:lstStyle/>
                    <a:p>
                      <a:r>
                        <a:rPr lang="en-GB" sz="1200" dirty="0"/>
                        <a:t>CICD/</a:t>
                      </a:r>
                      <a:r>
                        <a:rPr lang="en-GB" sz="1200" dirty="0" err="1"/>
                        <a:t>IaC</a:t>
                      </a:r>
                      <a:r>
                        <a:rPr lang="en-GB" sz="1200" dirty="0"/>
                        <a:t> approach</a:t>
                      </a:r>
                    </a:p>
                  </a:txBody>
                  <a:tcPr/>
                </a:tc>
                <a:tc>
                  <a:txBody>
                    <a:bodyPr/>
                    <a:lstStyle/>
                    <a:p>
                      <a:r>
                        <a:rPr lang="en-GB" sz="1200" dirty="0"/>
                        <a:t>EDA Solution</a:t>
                      </a:r>
                    </a:p>
                  </a:txBody>
                  <a:tcPr/>
                </a:tc>
                <a:extLst>
                  <a:ext uri="{0D108BD9-81ED-4DB2-BD59-A6C34878D82A}">
                    <a16:rowId xmlns:a16="http://schemas.microsoft.com/office/drawing/2014/main" val="1056341664"/>
                  </a:ext>
                </a:extLst>
              </a:tr>
              <a:tr h="370840">
                <a:tc>
                  <a:txBody>
                    <a:bodyPr/>
                    <a:lstStyle/>
                    <a:p>
                      <a:r>
                        <a:rPr lang="en-GB" sz="1200" dirty="0"/>
                        <a:t>Security</a:t>
                      </a:r>
                    </a:p>
                  </a:txBody>
                  <a:tcPr/>
                </a:tc>
                <a:tc>
                  <a:txBody>
                    <a:bodyPr/>
                    <a:lstStyle/>
                    <a:p>
                      <a:r>
                        <a:rPr lang="en-GB" sz="1200" dirty="0"/>
                        <a:t>Protection</a:t>
                      </a:r>
                    </a:p>
                  </a:txBody>
                  <a:tcPr/>
                </a:tc>
                <a:tc>
                  <a:txBody>
                    <a:bodyPr/>
                    <a:lstStyle/>
                    <a:p>
                      <a:r>
                        <a:rPr lang="en-GB" sz="1200" dirty="0"/>
                        <a:t>ALB unprotected between pipeline runs (2+ hours)</a:t>
                      </a:r>
                    </a:p>
                  </a:txBody>
                  <a:tcPr/>
                </a:tc>
                <a:tc>
                  <a:txBody>
                    <a:bodyPr/>
                    <a:lstStyle/>
                    <a:p>
                      <a:r>
                        <a:rPr lang="en-GB" sz="1200" dirty="0"/>
                        <a:t>Immediate protection (10 seconds)</a:t>
                      </a:r>
                    </a:p>
                  </a:txBody>
                  <a:tcPr/>
                </a:tc>
                <a:extLst>
                  <a:ext uri="{0D108BD9-81ED-4DB2-BD59-A6C34878D82A}">
                    <a16:rowId xmlns:a16="http://schemas.microsoft.com/office/drawing/2014/main" val="3465167732"/>
                  </a:ext>
                </a:extLst>
              </a:tr>
              <a:tr h="370840">
                <a:tc>
                  <a:txBody>
                    <a:bodyPr/>
                    <a:lstStyle/>
                    <a:p>
                      <a:endParaRPr lang="en-GB" sz="1200" dirty="0"/>
                    </a:p>
                  </a:txBody>
                  <a:tcPr/>
                </a:tc>
                <a:tc>
                  <a:txBody>
                    <a:bodyPr/>
                    <a:lstStyle/>
                    <a:p>
                      <a:r>
                        <a:rPr lang="en-GB" sz="1200" dirty="0"/>
                        <a:t>SRT proactive engagement</a:t>
                      </a:r>
                    </a:p>
                  </a:txBody>
                  <a:tcPr/>
                </a:tc>
                <a:tc>
                  <a:txBody>
                    <a:bodyPr/>
                    <a:lstStyle/>
                    <a:p>
                      <a:r>
                        <a:rPr lang="en-GB" sz="1200" dirty="0"/>
                        <a:t>No</a:t>
                      </a:r>
                    </a:p>
                  </a:txBody>
                  <a:tcPr/>
                </a:tc>
                <a:tc>
                  <a:txBody>
                    <a:bodyPr/>
                    <a:lstStyle/>
                    <a:p>
                      <a:r>
                        <a:rPr lang="en-GB" sz="1200" dirty="0"/>
                        <a:t>Yes</a:t>
                      </a:r>
                    </a:p>
                  </a:txBody>
                  <a:tcPr/>
                </a:tc>
                <a:extLst>
                  <a:ext uri="{0D108BD9-81ED-4DB2-BD59-A6C34878D82A}">
                    <a16:rowId xmlns:a16="http://schemas.microsoft.com/office/drawing/2014/main" val="3527168132"/>
                  </a:ext>
                </a:extLst>
              </a:tr>
              <a:tr h="370840">
                <a:tc>
                  <a:txBody>
                    <a:bodyPr/>
                    <a:lstStyle/>
                    <a:p>
                      <a:endParaRPr lang="en-GB" sz="1200" dirty="0"/>
                    </a:p>
                  </a:txBody>
                  <a:tcPr/>
                </a:tc>
                <a:tc>
                  <a:txBody>
                    <a:bodyPr/>
                    <a:lstStyle/>
                    <a:p>
                      <a:r>
                        <a:rPr lang="en-GB" sz="1200" dirty="0"/>
                        <a:t>SOC engagement and alerting</a:t>
                      </a:r>
                    </a:p>
                  </a:txBody>
                  <a:tcPr/>
                </a:tc>
                <a:tc>
                  <a:txBody>
                    <a:bodyPr/>
                    <a:lstStyle/>
                    <a:p>
                      <a:r>
                        <a:rPr lang="en-GB" sz="1200" dirty="0"/>
                        <a:t>No</a:t>
                      </a:r>
                    </a:p>
                  </a:txBody>
                  <a:tcPr/>
                </a:tc>
                <a:tc>
                  <a:txBody>
                    <a:bodyPr/>
                    <a:lstStyle/>
                    <a:p>
                      <a:r>
                        <a:rPr lang="en-GB" sz="1200" dirty="0"/>
                        <a:t>Yes</a:t>
                      </a:r>
                    </a:p>
                  </a:txBody>
                  <a:tcPr/>
                </a:tc>
                <a:extLst>
                  <a:ext uri="{0D108BD9-81ED-4DB2-BD59-A6C34878D82A}">
                    <a16:rowId xmlns:a16="http://schemas.microsoft.com/office/drawing/2014/main" val="3938790547"/>
                  </a:ext>
                </a:extLst>
              </a:tr>
              <a:tr h="370840">
                <a:tc>
                  <a:txBody>
                    <a:bodyPr/>
                    <a:lstStyle/>
                    <a:p>
                      <a:endParaRPr lang="en-GB" sz="1200" dirty="0"/>
                    </a:p>
                  </a:txBody>
                  <a:tcPr/>
                </a:tc>
                <a:tc>
                  <a:txBody>
                    <a:bodyPr/>
                    <a:lstStyle/>
                    <a:p>
                      <a:r>
                        <a:rPr lang="en-GB" sz="1200" dirty="0"/>
                        <a:t>Security posture and compliance</a:t>
                      </a:r>
                    </a:p>
                  </a:txBody>
                  <a:tcPr/>
                </a:tc>
                <a:tc>
                  <a:txBody>
                    <a:bodyPr/>
                    <a:lstStyle/>
                    <a:p>
                      <a:r>
                        <a:rPr lang="en-GB" sz="1200" dirty="0"/>
                        <a:t>Partial, Human error risk, Audit gap</a:t>
                      </a:r>
                    </a:p>
                  </a:txBody>
                  <a:tcPr/>
                </a:tc>
                <a:tc>
                  <a:txBody>
                    <a:bodyPr/>
                    <a:lstStyle/>
                    <a:p>
                      <a:r>
                        <a:rPr lang="en-GB" sz="1200" dirty="0"/>
                        <a:t>Full</a:t>
                      </a:r>
                    </a:p>
                  </a:txBody>
                  <a:tcPr/>
                </a:tc>
                <a:extLst>
                  <a:ext uri="{0D108BD9-81ED-4DB2-BD59-A6C34878D82A}">
                    <a16:rowId xmlns:a16="http://schemas.microsoft.com/office/drawing/2014/main" val="617493323"/>
                  </a:ext>
                </a:extLst>
              </a:tr>
              <a:tr h="370840">
                <a:tc>
                  <a:txBody>
                    <a:bodyPr/>
                    <a:lstStyle/>
                    <a:p>
                      <a:r>
                        <a:rPr lang="en-GB" sz="1200" dirty="0"/>
                        <a:t>Deployment Efficiency</a:t>
                      </a:r>
                    </a:p>
                  </a:txBody>
                  <a:tcPr/>
                </a:tc>
                <a:tc>
                  <a:txBody>
                    <a:bodyPr/>
                    <a:lstStyle/>
                    <a:p>
                      <a:r>
                        <a:rPr lang="en-GB" sz="1200" dirty="0"/>
                        <a:t>Time</a:t>
                      </a:r>
                    </a:p>
                  </a:txBody>
                  <a:tcPr/>
                </a:tc>
                <a:tc>
                  <a:txBody>
                    <a:bodyPr/>
                    <a:lstStyle/>
                    <a:p>
                      <a:r>
                        <a:rPr lang="en-GB" sz="1200" dirty="0"/>
                        <a:t>2+ hours</a:t>
                      </a:r>
                    </a:p>
                  </a:txBody>
                  <a:tcPr/>
                </a:tc>
                <a:tc>
                  <a:txBody>
                    <a:bodyPr/>
                    <a:lstStyle/>
                    <a:p>
                      <a:r>
                        <a:rPr lang="en-GB" sz="1200" dirty="0"/>
                        <a:t>10 seconds</a:t>
                      </a:r>
                    </a:p>
                  </a:txBody>
                  <a:tcPr/>
                </a:tc>
                <a:extLst>
                  <a:ext uri="{0D108BD9-81ED-4DB2-BD59-A6C34878D82A}">
                    <a16:rowId xmlns:a16="http://schemas.microsoft.com/office/drawing/2014/main" val="28895239"/>
                  </a:ext>
                </a:extLst>
              </a:tr>
              <a:tr h="370840">
                <a:tc>
                  <a:txBody>
                    <a:bodyPr/>
                    <a:lstStyle/>
                    <a:p>
                      <a:endParaRPr lang="en-GB" sz="1200" dirty="0"/>
                    </a:p>
                  </a:txBody>
                  <a:tcPr/>
                </a:tc>
                <a:tc>
                  <a:txBody>
                    <a:bodyPr/>
                    <a:lstStyle/>
                    <a:p>
                      <a:r>
                        <a:rPr lang="en-GB" sz="1200" dirty="0"/>
                        <a:t>Team approvals</a:t>
                      </a:r>
                    </a:p>
                  </a:txBody>
                  <a:tcPr/>
                </a:tc>
                <a:tc>
                  <a:txBody>
                    <a:bodyPr/>
                    <a:lstStyle/>
                    <a:p>
                      <a:r>
                        <a:rPr lang="en-GB" sz="1200" dirty="0"/>
                        <a:t>Every workload</a:t>
                      </a:r>
                    </a:p>
                  </a:txBody>
                  <a:tcPr/>
                </a:tc>
                <a:tc>
                  <a:txBody>
                    <a:bodyPr/>
                    <a:lstStyle/>
                    <a:p>
                      <a:r>
                        <a:rPr lang="en-GB" sz="1200" dirty="0"/>
                        <a:t>Once per EDA deployment</a:t>
                      </a:r>
                    </a:p>
                  </a:txBody>
                  <a:tcPr/>
                </a:tc>
                <a:extLst>
                  <a:ext uri="{0D108BD9-81ED-4DB2-BD59-A6C34878D82A}">
                    <a16:rowId xmlns:a16="http://schemas.microsoft.com/office/drawing/2014/main" val="3317393604"/>
                  </a:ext>
                </a:extLst>
              </a:tr>
              <a:tr h="370840">
                <a:tc>
                  <a:txBody>
                    <a:bodyPr/>
                    <a:lstStyle/>
                    <a:p>
                      <a:endParaRPr lang="en-GB" sz="1200" dirty="0"/>
                    </a:p>
                  </a:txBody>
                  <a:tcPr/>
                </a:tc>
                <a:tc>
                  <a:txBody>
                    <a:bodyPr/>
                    <a:lstStyle/>
                    <a:p>
                      <a:r>
                        <a:rPr lang="en-GB" sz="1200" dirty="0"/>
                        <a:t>Cleanup on ALB deletion</a:t>
                      </a:r>
                    </a:p>
                  </a:txBody>
                  <a:tcPr/>
                </a:tc>
                <a:tc>
                  <a:txBody>
                    <a:bodyPr/>
                    <a:lstStyle/>
                    <a:p>
                      <a:r>
                        <a:rPr lang="en-GB" sz="1200" dirty="0"/>
                        <a:t>Required – manual scripting</a:t>
                      </a:r>
                    </a:p>
                  </a:txBody>
                  <a:tcPr/>
                </a:tc>
                <a:tc>
                  <a:txBody>
                    <a:bodyPr/>
                    <a:lstStyle/>
                    <a:p>
                      <a:r>
                        <a:rPr lang="en-GB" sz="1200" dirty="0"/>
                        <a:t>Automatic</a:t>
                      </a:r>
                    </a:p>
                  </a:txBody>
                  <a:tcPr/>
                </a:tc>
                <a:extLst>
                  <a:ext uri="{0D108BD9-81ED-4DB2-BD59-A6C34878D82A}">
                    <a16:rowId xmlns:a16="http://schemas.microsoft.com/office/drawing/2014/main" val="1978270611"/>
                  </a:ext>
                </a:extLst>
              </a:tr>
              <a:tr h="370840">
                <a:tc>
                  <a:txBody>
                    <a:bodyPr/>
                    <a:lstStyle/>
                    <a:p>
                      <a:r>
                        <a:rPr lang="en-GB" sz="1200" dirty="0"/>
                        <a:t>Process/Operational Efficiency</a:t>
                      </a:r>
                    </a:p>
                  </a:txBody>
                  <a:tcPr/>
                </a:tc>
                <a:tc>
                  <a:txBody>
                    <a:bodyPr/>
                    <a:lstStyle/>
                    <a:p>
                      <a:r>
                        <a:rPr lang="en-GB" sz="1200" dirty="0"/>
                        <a:t>Workload onboarding</a:t>
                      </a:r>
                    </a:p>
                  </a:txBody>
                  <a:tcPr/>
                </a:tc>
                <a:tc>
                  <a:txBody>
                    <a:bodyPr/>
                    <a:lstStyle/>
                    <a:p>
                      <a:r>
                        <a:rPr lang="en-GB" sz="1200" dirty="0"/>
                        <a:t>2+ hours per workload per spoke (manual runs)</a:t>
                      </a:r>
                    </a:p>
                  </a:txBody>
                  <a:tcPr/>
                </a:tc>
                <a:tc>
                  <a:txBody>
                    <a:bodyPr/>
                    <a:lstStyle/>
                    <a:p>
                      <a:r>
                        <a:rPr lang="en-GB" sz="1200" dirty="0"/>
                        <a:t>2 hours per spoke account</a:t>
                      </a:r>
                    </a:p>
                  </a:txBody>
                  <a:tcPr/>
                </a:tc>
                <a:extLst>
                  <a:ext uri="{0D108BD9-81ED-4DB2-BD59-A6C34878D82A}">
                    <a16:rowId xmlns:a16="http://schemas.microsoft.com/office/drawing/2014/main" val="2935879753"/>
                  </a:ext>
                </a:extLst>
              </a:tr>
              <a:tr h="370840">
                <a:tc>
                  <a:txBody>
                    <a:bodyPr/>
                    <a:lstStyle/>
                    <a:p>
                      <a:endParaRPr lang="en-GB" sz="1200" dirty="0"/>
                    </a:p>
                  </a:txBody>
                  <a:tcPr/>
                </a:tc>
                <a:tc>
                  <a:txBody>
                    <a:bodyPr/>
                    <a:lstStyle/>
                    <a:p>
                      <a:r>
                        <a:rPr lang="en-GB" sz="1200" dirty="0"/>
                        <a:t>Terraform module reuse</a:t>
                      </a:r>
                    </a:p>
                  </a:txBody>
                  <a:tcPr/>
                </a:tc>
                <a:tc>
                  <a:txBody>
                    <a:bodyPr/>
                    <a:lstStyle/>
                    <a:p>
                      <a:r>
                        <a:rPr lang="en-GB" sz="1200" dirty="0"/>
                        <a:t>Limited to spoke</a:t>
                      </a:r>
                    </a:p>
                  </a:txBody>
                  <a:tcPr/>
                </a:tc>
                <a:tc>
                  <a:txBody>
                    <a:bodyPr/>
                    <a:lstStyle/>
                    <a:p>
                      <a:r>
                        <a:rPr lang="en-GB" sz="1200" dirty="0"/>
                        <a:t>100% across spoke accounts with centralized</a:t>
                      </a:r>
                    </a:p>
                  </a:txBody>
                  <a:tcPr/>
                </a:tc>
                <a:extLst>
                  <a:ext uri="{0D108BD9-81ED-4DB2-BD59-A6C34878D82A}">
                    <a16:rowId xmlns:a16="http://schemas.microsoft.com/office/drawing/2014/main" val="2287568938"/>
                  </a:ext>
                </a:extLst>
              </a:tr>
              <a:tr h="370840">
                <a:tc>
                  <a:txBody>
                    <a:bodyPr/>
                    <a:lstStyle/>
                    <a:p>
                      <a:endParaRPr lang="en-GB" sz="1200" dirty="0"/>
                    </a:p>
                  </a:txBody>
                  <a:tcPr/>
                </a:tc>
                <a:tc>
                  <a:txBody>
                    <a:bodyPr/>
                    <a:lstStyle/>
                    <a:p>
                      <a:r>
                        <a:rPr lang="en-GB" sz="1200" dirty="0"/>
                        <a:t>Operational overhead</a:t>
                      </a:r>
                    </a:p>
                  </a:txBody>
                  <a:tcPr/>
                </a:tc>
                <a:tc>
                  <a:txBody>
                    <a:bodyPr/>
                    <a:lstStyle/>
                    <a:p>
                      <a:r>
                        <a:rPr lang="en-GB" sz="1200" dirty="0"/>
                        <a:t>High recurring</a:t>
                      </a:r>
                    </a:p>
                  </a:txBody>
                  <a:tcPr/>
                </a:tc>
                <a:tc>
                  <a:txBody>
                    <a:bodyPr/>
                    <a:lstStyle/>
                    <a:p>
                      <a:r>
                        <a:rPr lang="en-GB" sz="1200" dirty="0"/>
                        <a:t>Zero touch ongoing</a:t>
                      </a:r>
                    </a:p>
                  </a:txBody>
                  <a:tcPr/>
                </a:tc>
                <a:extLst>
                  <a:ext uri="{0D108BD9-81ED-4DB2-BD59-A6C34878D82A}">
                    <a16:rowId xmlns:a16="http://schemas.microsoft.com/office/drawing/2014/main" val="2547927504"/>
                  </a:ext>
                </a:extLst>
              </a:tr>
              <a:tr h="388902">
                <a:tc>
                  <a:txBody>
                    <a:bodyPr/>
                    <a:lstStyle/>
                    <a:p>
                      <a:r>
                        <a:rPr lang="en-GB" sz="1200" dirty="0"/>
                        <a:t>Costing</a:t>
                      </a:r>
                    </a:p>
                  </a:txBody>
                  <a:tcPr/>
                </a:tc>
                <a:tc>
                  <a:txBody>
                    <a:bodyPr/>
                    <a:lstStyle/>
                    <a:p>
                      <a:r>
                        <a:rPr lang="en-GB" sz="1200" dirty="0"/>
                        <a:t>Shield Advance/WAF</a:t>
                      </a:r>
                    </a:p>
                  </a:txBody>
                  <a:tcPr/>
                </a:tc>
                <a:tc>
                  <a:txBody>
                    <a:bodyPr/>
                    <a:lstStyle/>
                    <a:p>
                      <a:r>
                        <a:rPr lang="en-GB" sz="1200" dirty="0"/>
                        <a:t>X</a:t>
                      </a:r>
                    </a:p>
                  </a:txBody>
                  <a:tcPr/>
                </a:tc>
                <a:tc>
                  <a:txBody>
                    <a:bodyPr/>
                    <a:lstStyle/>
                    <a:p>
                      <a:r>
                        <a:rPr lang="en-GB" sz="1200" dirty="0"/>
                        <a:t>No additional fee for SRT engagement – same cost</a:t>
                      </a:r>
                    </a:p>
                  </a:txBody>
                  <a:tcPr/>
                </a:tc>
                <a:extLst>
                  <a:ext uri="{0D108BD9-81ED-4DB2-BD59-A6C34878D82A}">
                    <a16:rowId xmlns:a16="http://schemas.microsoft.com/office/drawing/2014/main" val="1431585999"/>
                  </a:ext>
                </a:extLst>
              </a:tr>
              <a:tr h="370840">
                <a:tc>
                  <a:txBody>
                    <a:bodyPr/>
                    <a:lstStyle/>
                    <a:p>
                      <a:endParaRPr lang="en-GB" sz="1200" dirty="0"/>
                    </a:p>
                  </a:txBody>
                  <a:tcPr/>
                </a:tc>
                <a:tc>
                  <a:txBody>
                    <a:bodyPr/>
                    <a:lstStyle/>
                    <a:p>
                      <a:r>
                        <a:rPr lang="en-GB" sz="1200" dirty="0"/>
                        <a:t>Waf Logging</a:t>
                      </a:r>
                    </a:p>
                  </a:txBody>
                  <a:tcPr/>
                </a:tc>
                <a:tc>
                  <a:txBody>
                    <a:bodyPr/>
                    <a:lstStyle/>
                    <a:p>
                      <a:r>
                        <a:rPr lang="en-GB" sz="1200" dirty="0"/>
                        <a:t>Waf-&gt;S3 (No Log Ingestion cost)</a:t>
                      </a:r>
                    </a:p>
                  </a:txBody>
                  <a:tcPr/>
                </a:tc>
                <a:tc>
                  <a:txBody>
                    <a:bodyPr/>
                    <a:lstStyle/>
                    <a:p>
                      <a:r>
                        <a:rPr lang="en-GB" sz="1200" dirty="0"/>
                        <a:t>Waf-&gt;Kinesis-&gt;S3 (Log Ingestion cost)</a:t>
                      </a:r>
                    </a:p>
                  </a:txBody>
                  <a:tcPr/>
                </a:tc>
                <a:extLst>
                  <a:ext uri="{0D108BD9-81ED-4DB2-BD59-A6C34878D82A}">
                    <a16:rowId xmlns:a16="http://schemas.microsoft.com/office/drawing/2014/main" val="3269095134"/>
                  </a:ext>
                </a:extLst>
              </a:tr>
              <a:tr h="370840">
                <a:tc>
                  <a:txBody>
                    <a:bodyPr/>
                    <a:lstStyle/>
                    <a:p>
                      <a:endParaRPr lang="en-GB" sz="1200" dirty="0"/>
                    </a:p>
                  </a:txBody>
                  <a:tcPr/>
                </a:tc>
                <a:tc>
                  <a:txBody>
                    <a:bodyPr/>
                    <a:lstStyle/>
                    <a:p>
                      <a:r>
                        <a:rPr lang="en-GB" sz="1200" dirty="0"/>
                        <a:t>Total Pipeline + Governance cost (TC)</a:t>
                      </a:r>
                    </a:p>
                  </a:txBody>
                  <a:tcPr/>
                </a:tc>
                <a:tc>
                  <a:txBody>
                    <a:bodyPr/>
                    <a:lstStyle/>
                    <a:p>
                      <a:r>
                        <a:rPr lang="en-US" altLang="en-US" sz="1200" dirty="0" err="1"/>
                        <a:t>IaC</a:t>
                      </a:r>
                      <a:r>
                        <a:rPr lang="en-US" altLang="en-US" sz="1200" dirty="0"/>
                        <a:t> Cost – </a:t>
                      </a:r>
                      <a:r>
                        <a:rPr lang="en-US" altLang="en-US" sz="1200" b="1" dirty="0"/>
                        <a:t>repeated</a:t>
                      </a:r>
                      <a:r>
                        <a:rPr lang="en-US" altLang="en-US" sz="1200" dirty="0"/>
                        <a:t> for every deployment</a:t>
                      </a:r>
                      <a:endParaRPr lang="en-GB" sz="1200" dirty="0"/>
                    </a:p>
                  </a:txBody>
                  <a:tcPr/>
                </a:tc>
                <a:tc>
                  <a:txBody>
                    <a:bodyPr/>
                    <a:lstStyle/>
                    <a:p>
                      <a:r>
                        <a:rPr lang="en-GB" sz="1200" dirty="0"/>
                        <a:t>Only Once per EDA deployment</a:t>
                      </a:r>
                    </a:p>
                  </a:txBody>
                  <a:tcPr/>
                </a:tc>
                <a:extLst>
                  <a:ext uri="{0D108BD9-81ED-4DB2-BD59-A6C34878D82A}">
                    <a16:rowId xmlns:a16="http://schemas.microsoft.com/office/drawing/2014/main" val="1799439078"/>
                  </a:ext>
                </a:extLst>
              </a:tr>
              <a:tr h="370840">
                <a:tc>
                  <a:txBody>
                    <a:bodyPr/>
                    <a:lstStyle/>
                    <a:p>
                      <a:endParaRPr lang="en-GB" sz="1200" dirty="0"/>
                    </a:p>
                  </a:txBody>
                  <a:tcPr/>
                </a:tc>
                <a:tc>
                  <a:txBody>
                    <a:bodyPr/>
                    <a:lstStyle/>
                    <a:p>
                      <a:r>
                        <a:rPr lang="en-GB" sz="1200" dirty="0"/>
                        <a:t>EDA Infra (DynamoDB, Lambda, Event Rule)</a:t>
                      </a:r>
                    </a:p>
                  </a:txBody>
                  <a:tcPr/>
                </a:tc>
                <a:tc>
                  <a:txBody>
                    <a:bodyPr/>
                    <a:lstStyle/>
                    <a:p>
                      <a:r>
                        <a:rPr lang="en-GB" sz="1200" dirty="0"/>
                        <a:t>None</a:t>
                      </a:r>
                    </a:p>
                  </a:txBody>
                  <a:tcPr/>
                </a:tc>
                <a:tc>
                  <a:txBody>
                    <a:bodyPr/>
                    <a:lstStyle/>
                    <a:p>
                      <a:r>
                        <a:rPr lang="en-GB" sz="1200" dirty="0"/>
                        <a:t>~ &lt; $50 (triggered only on create/delete event)</a:t>
                      </a:r>
                    </a:p>
                  </a:txBody>
                  <a:tcPr/>
                </a:tc>
                <a:extLst>
                  <a:ext uri="{0D108BD9-81ED-4DB2-BD59-A6C34878D82A}">
                    <a16:rowId xmlns:a16="http://schemas.microsoft.com/office/drawing/2014/main" val="1969750901"/>
                  </a:ext>
                </a:extLst>
              </a:tr>
            </a:tbl>
          </a:graphicData>
        </a:graphic>
      </p:graphicFrame>
    </p:spTree>
    <p:extLst>
      <p:ext uri="{BB962C8B-B14F-4D97-AF65-F5344CB8AC3E}">
        <p14:creationId xmlns:p14="http://schemas.microsoft.com/office/powerpoint/2010/main" val="1697782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548640"/>
            <a:ext cx="2700645" cy="5431536"/>
          </a:xfrm>
        </p:spPr>
        <p:txBody>
          <a:bodyPr>
            <a:normAutofit/>
          </a:bodyPr>
          <a:lstStyle/>
          <a:p>
            <a:r>
              <a:rPr lang="en-US" sz="4000" dirty="0"/>
              <a:t>Key Technical Decisions &amp; Integrations</a:t>
            </a:r>
            <a:endParaRPr lang="en-GB" sz="4000" dirty="0"/>
          </a:p>
        </p:txBody>
      </p:sp>
      <p:sp>
        <p:nvSpPr>
          <p:cNvPr id="27"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sX0" fmla="*/ 0 w 4480560"/>
              <a:gd name="csY0" fmla="*/ 0 h 13716"/>
              <a:gd name="csX1" fmla="*/ 595274 w 4480560"/>
              <a:gd name="csY1" fmla="*/ 0 h 13716"/>
              <a:gd name="csX2" fmla="*/ 1100938 w 4480560"/>
              <a:gd name="csY2" fmla="*/ 0 h 13716"/>
              <a:gd name="csX3" fmla="*/ 1651406 w 4480560"/>
              <a:gd name="csY3" fmla="*/ 0 h 13716"/>
              <a:gd name="csX4" fmla="*/ 2336292 w 4480560"/>
              <a:gd name="csY4" fmla="*/ 0 h 13716"/>
              <a:gd name="csX5" fmla="*/ 2931566 w 4480560"/>
              <a:gd name="csY5" fmla="*/ 0 h 13716"/>
              <a:gd name="csX6" fmla="*/ 3482035 w 4480560"/>
              <a:gd name="csY6" fmla="*/ 0 h 13716"/>
              <a:gd name="csX7" fmla="*/ 4480560 w 4480560"/>
              <a:gd name="csY7" fmla="*/ 0 h 13716"/>
              <a:gd name="csX8" fmla="*/ 4480560 w 4480560"/>
              <a:gd name="csY8" fmla="*/ 13716 h 13716"/>
              <a:gd name="csX9" fmla="*/ 3840480 w 4480560"/>
              <a:gd name="csY9" fmla="*/ 13716 h 13716"/>
              <a:gd name="csX10" fmla="*/ 3290011 w 4480560"/>
              <a:gd name="csY10" fmla="*/ 13716 h 13716"/>
              <a:gd name="csX11" fmla="*/ 2560320 w 4480560"/>
              <a:gd name="csY11" fmla="*/ 13716 h 13716"/>
              <a:gd name="csX12" fmla="*/ 1965046 w 4480560"/>
              <a:gd name="csY12" fmla="*/ 13716 h 13716"/>
              <a:gd name="csX13" fmla="*/ 1459382 w 4480560"/>
              <a:gd name="csY13" fmla="*/ 13716 h 13716"/>
              <a:gd name="csX14" fmla="*/ 774497 w 4480560"/>
              <a:gd name="csY14" fmla="*/ 13716 h 13716"/>
              <a:gd name="csX15" fmla="*/ 0 w 4480560"/>
              <a:gd name="csY15" fmla="*/ 13716 h 13716"/>
              <a:gd name="csX16" fmla="*/ 0 w 4480560"/>
              <a:gd name="csY1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44813" y="552091"/>
            <a:ext cx="4668251" cy="5428085"/>
          </a:xfrm>
        </p:spPr>
        <p:txBody>
          <a:bodyPr anchor="ctr">
            <a:normAutofit/>
          </a:bodyPr>
          <a:lstStyle/>
          <a:p>
            <a:r>
              <a:rPr lang="en-GB" sz="1900" dirty="0"/>
              <a:t>Enabled SRT + Proactive Engagement</a:t>
            </a:r>
          </a:p>
          <a:p>
            <a:r>
              <a:rPr lang="en-GB" sz="1900" dirty="0"/>
              <a:t>Sentinel Integration </a:t>
            </a:r>
          </a:p>
          <a:p>
            <a:r>
              <a:rPr lang="en-GB" sz="1900" dirty="0"/>
              <a:t>SOC Engagement</a:t>
            </a:r>
          </a:p>
          <a:p>
            <a:r>
              <a:rPr lang="en-GB" sz="1900" dirty="0"/>
              <a:t>Centralised WAF logging using Kinesis → S3 (Logging)</a:t>
            </a:r>
          </a:p>
          <a:p>
            <a:r>
              <a:rPr lang="en-US" sz="1800" dirty="0"/>
              <a:t>Selected Kinesis instead of direct S3 delivery to absorb traffic bursts</a:t>
            </a:r>
            <a:endParaRPr lang="en-GB" sz="1900" dirty="0"/>
          </a:p>
          <a:p>
            <a:r>
              <a:rPr lang="en-GB" sz="1900" dirty="0"/>
              <a:t>Centralized </a:t>
            </a:r>
            <a:r>
              <a:rPr lang="en-GB" sz="1900" dirty="0" err="1"/>
              <a:t>IaC</a:t>
            </a:r>
            <a:r>
              <a:rPr lang="en-GB" sz="1900" dirty="0"/>
              <a:t> approach for event driven shield advance protection</a:t>
            </a:r>
          </a:p>
          <a:p>
            <a:pPr marL="0" indent="0">
              <a:buNone/>
            </a:pPr>
            <a:endParaRPr lang="en-GB" sz="1900" dirty="0"/>
          </a:p>
          <a:p>
            <a:pPr marL="0" indent="0">
              <a:buNone/>
            </a:pPr>
            <a:endParaRPr lang="en-GB" sz="1900" dirty="0"/>
          </a:p>
          <a:p>
            <a:endParaRPr lang="en-GB"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tint">
            <a:extLst>
              <a:ext uri="{FF2B5EF4-FFF2-40B4-BE49-F238E27FC236}">
                <a16:creationId xmlns:a16="http://schemas.microsoft.com/office/drawing/2014/main" id="{D380959B-464C-9ED8-C9EB-AB6FC997C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9086" y="8300"/>
            <a:ext cx="8224913"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06B83858-ED7D-57B6-6CAA-83168807C4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562311" cy="6858000"/>
          </a:xfrm>
          <a:prstGeom prst="rect">
            <a:avLst/>
          </a:prstGeom>
          <a:ln>
            <a:noFill/>
          </a:ln>
          <a:effectLst>
            <a:outerShdw blurRad="317500" dist="127000" dir="2400000" sx="95000" sy="95000" algn="t"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79792" y="759126"/>
            <a:ext cx="3447184" cy="1711119"/>
          </a:xfrm>
        </p:spPr>
        <p:txBody>
          <a:bodyPr anchor="ctr">
            <a:normAutofit/>
          </a:bodyPr>
          <a:lstStyle/>
          <a:p>
            <a:r>
              <a:rPr lang="en-GB" sz="3500" dirty="0"/>
              <a:t>Challenges</a:t>
            </a:r>
          </a:p>
        </p:txBody>
      </p:sp>
      <p:sp>
        <p:nvSpPr>
          <p:cNvPr id="27" name="Rectangle 26">
            <a:extLst>
              <a:ext uri="{FF2B5EF4-FFF2-40B4-BE49-F238E27FC236}">
                <a16:creationId xmlns:a16="http://schemas.microsoft.com/office/drawing/2014/main" id="{FF97FFD4-A8B9-3D4D-1623-7BE467E46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7650" cy="6858000"/>
          </a:xfrm>
          <a:prstGeom prst="rect">
            <a:avLst/>
          </a:prstGeom>
          <a:solidFill>
            <a:srgbClr val="FFFFFF"/>
          </a:solidFill>
          <a:ln>
            <a:noFill/>
          </a:ln>
          <a:effectLst>
            <a:outerShdw blurRad="190500" dist="139700" dir="300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Hands holding each other's wrists and interlinked to form a circle">
            <a:extLst>
              <a:ext uri="{FF2B5EF4-FFF2-40B4-BE49-F238E27FC236}">
                <a16:creationId xmlns:a16="http://schemas.microsoft.com/office/drawing/2014/main" id="{08E4C155-46B6-5AED-92AC-0395C143AF91}"/>
              </a:ext>
            </a:extLst>
          </p:cNvPr>
          <p:cNvPicPr>
            <a:picLocks noChangeAspect="1"/>
          </p:cNvPicPr>
          <p:nvPr/>
        </p:nvPicPr>
        <p:blipFill>
          <a:blip r:embed="rId2"/>
          <a:srcRect r="19091" b="9091"/>
          <a:stretch>
            <a:fillRect/>
          </a:stretch>
        </p:blipFill>
        <p:spPr>
          <a:xfrm>
            <a:off x="576654" y="2357126"/>
            <a:ext cx="2904342" cy="2178256"/>
          </a:xfrm>
          <a:prstGeom prst="rect">
            <a:avLst/>
          </a:prstGeom>
        </p:spPr>
      </p:pic>
      <p:sp>
        <p:nvSpPr>
          <p:cNvPr id="3" name="Content Placeholder 2"/>
          <p:cNvSpPr>
            <a:spLocks noGrp="1"/>
          </p:cNvSpPr>
          <p:nvPr>
            <p:ph idx="1"/>
          </p:nvPr>
        </p:nvSpPr>
        <p:spPr>
          <a:xfrm>
            <a:off x="4586388" y="2043524"/>
            <a:ext cx="3447184" cy="3769836"/>
          </a:xfrm>
        </p:spPr>
        <p:txBody>
          <a:bodyPr anchor="ctr">
            <a:normAutofit/>
          </a:bodyPr>
          <a:lstStyle/>
          <a:p>
            <a:r>
              <a:rPr lang="en-US" sz="1700" dirty="0"/>
              <a:t>Engaging AWS Support, Landing Zone, Azure, SOC and spoke teams</a:t>
            </a:r>
          </a:p>
          <a:p>
            <a:r>
              <a:rPr lang="en-US" sz="1700" dirty="0"/>
              <a:t>Sentinel integration – centralized </a:t>
            </a:r>
            <a:r>
              <a:rPr lang="en-US" sz="1700"/>
              <a:t>vs spoke</a:t>
            </a:r>
            <a:endParaRPr lang="en-US" sz="1700" dirty="0"/>
          </a:p>
          <a:p>
            <a:r>
              <a:rPr lang="en-US" sz="1700" dirty="0"/>
              <a:t>Automation consistency Complex cross‑team dependencies slowed onboarding</a:t>
            </a:r>
          </a:p>
          <a:p>
            <a:r>
              <a:rPr lang="en-US" sz="1700" dirty="0"/>
              <a:t>Couple of spoke accounts not enabled Shield Advance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40771-481C-EA2F-2AE4-4879D1D1A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F80C12-BA7B-1638-6FCA-BF863E6BF386}"/>
              </a:ext>
            </a:extLst>
          </p:cNvPr>
          <p:cNvSpPr>
            <a:spLocks noGrp="1"/>
          </p:cNvSpPr>
          <p:nvPr>
            <p:ph type="title"/>
          </p:nvPr>
        </p:nvSpPr>
        <p:spPr>
          <a:xfrm>
            <a:off x="630936" y="548640"/>
            <a:ext cx="2700645" cy="5431536"/>
          </a:xfrm>
        </p:spPr>
        <p:txBody>
          <a:bodyPr>
            <a:normAutofit/>
          </a:bodyPr>
          <a:lstStyle/>
          <a:p>
            <a:r>
              <a:rPr lang="en-US" sz="3200" dirty="0"/>
              <a:t>Compromises	</a:t>
            </a:r>
            <a:endParaRPr lang="en-GB" sz="3200" dirty="0"/>
          </a:p>
        </p:txBody>
      </p:sp>
      <p:sp>
        <p:nvSpPr>
          <p:cNvPr id="3" name="Content Placeholder 2">
            <a:extLst>
              <a:ext uri="{FF2B5EF4-FFF2-40B4-BE49-F238E27FC236}">
                <a16:creationId xmlns:a16="http://schemas.microsoft.com/office/drawing/2014/main" id="{C62FD763-A041-E0F3-FA7D-573AF4D14430}"/>
              </a:ext>
            </a:extLst>
          </p:cNvPr>
          <p:cNvSpPr>
            <a:spLocks noGrp="1"/>
          </p:cNvSpPr>
          <p:nvPr>
            <p:ph idx="1"/>
          </p:nvPr>
        </p:nvSpPr>
        <p:spPr>
          <a:xfrm>
            <a:off x="3844813" y="552091"/>
            <a:ext cx="4668251" cy="5428085"/>
          </a:xfrm>
        </p:spPr>
        <p:txBody>
          <a:bodyPr anchor="ctr">
            <a:normAutofit/>
          </a:bodyPr>
          <a:lstStyle/>
          <a:p>
            <a:pPr marL="0" indent="0">
              <a:buNone/>
            </a:pPr>
            <a:r>
              <a:rPr lang="en-US" sz="2000" dirty="0"/>
              <a:t>DDoS simulation testing could not be executed because production testing is not permitted and non-production environments do not reflect real-world traffic characteristics. A formal waiver was granted, supported by compensating controls such as rate-limiting, AWS Shield Advanced automatic mitigation, SRT proactive engagement, WAF threat protection, and 24×7 monitoring.</a:t>
            </a:r>
            <a:endParaRPr lang="en-GB" sz="1900" dirty="0"/>
          </a:p>
          <a:p>
            <a:pPr marL="0" indent="0">
              <a:buNone/>
            </a:pPr>
            <a:endParaRPr lang="en-GB" sz="1900" dirty="0"/>
          </a:p>
          <a:p>
            <a:pPr marL="457200" indent="-457200">
              <a:buAutoNum type="arabicPeriod"/>
            </a:pPr>
            <a:endParaRPr lang="en-GB" sz="1900" dirty="0"/>
          </a:p>
          <a:p>
            <a:pPr marL="0" indent="0">
              <a:buNone/>
            </a:pPr>
            <a:endParaRPr lang="en-GB" sz="1900" dirty="0"/>
          </a:p>
          <a:p>
            <a:endParaRPr lang="en-GB" sz="1900" dirty="0"/>
          </a:p>
        </p:txBody>
      </p:sp>
    </p:spTree>
    <p:extLst>
      <p:ext uri="{BB962C8B-B14F-4D97-AF65-F5344CB8AC3E}">
        <p14:creationId xmlns:p14="http://schemas.microsoft.com/office/powerpoint/2010/main" val="1335846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3716D-241C-45F1-7362-87990888AE35}"/>
            </a:ext>
          </a:extLst>
        </p:cNvPr>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D4880CB7-2237-317D-D4C2-FC7109F2B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977564F7-CD51-827B-D1CD-2821484A9BE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5400000">
            <a:off x="-2487837" y="2732147"/>
            <a:ext cx="5860051" cy="395784"/>
            <a:chOff x="6081624" y="1998368"/>
            <a:chExt cx="5613457" cy="782175"/>
          </a:xfrm>
          <a:solidFill>
            <a:schemeClr val="accent4"/>
          </a:solidFill>
        </p:grpSpPr>
        <p:sp>
          <p:nvSpPr>
            <p:cNvPr id="6" name="Rectangle 5">
              <a:extLst>
                <a:ext uri="{FF2B5EF4-FFF2-40B4-BE49-F238E27FC236}">
                  <a16:creationId xmlns:a16="http://schemas.microsoft.com/office/drawing/2014/main" id="{9A4AB1E2-E183-FC5B-EB3D-B024DED500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42124B6-CEA2-A99D-72D7-9FBA759D9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Rectangle 7">
            <a:extLst>
              <a:ext uri="{FF2B5EF4-FFF2-40B4-BE49-F238E27FC236}">
                <a16:creationId xmlns:a16="http://schemas.microsoft.com/office/drawing/2014/main" id="{D45C51E5-917C-2ACD-E3F3-AE6A9C6D49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4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8BD0D42D-0C50-C8DC-F9B6-00933F940977}"/>
              </a:ext>
            </a:extLst>
          </p:cNvPr>
          <p:cNvSpPr>
            <a:spLocks noGrp="1"/>
          </p:cNvSpPr>
          <p:nvPr>
            <p:ph type="title"/>
          </p:nvPr>
        </p:nvSpPr>
        <p:spPr>
          <a:xfrm>
            <a:off x="962222" y="149509"/>
            <a:ext cx="7387313" cy="433966"/>
          </a:xfrm>
        </p:spPr>
        <p:txBody>
          <a:bodyPr anchor="b">
            <a:normAutofit fontScale="90000"/>
          </a:bodyPr>
          <a:lstStyle/>
          <a:p>
            <a:pPr>
              <a:lnSpc>
                <a:spcPct val="90000"/>
              </a:lnSpc>
            </a:pPr>
            <a:r>
              <a:rPr lang="en-US" sz="3200" dirty="0"/>
              <a:t>Process to live</a:t>
            </a:r>
            <a:endParaRPr lang="en-GB" sz="3200" dirty="0"/>
          </a:p>
        </p:txBody>
      </p:sp>
      <p:sp>
        <p:nvSpPr>
          <p:cNvPr id="10" name="Rectangle 1">
            <a:extLst>
              <a:ext uri="{FF2B5EF4-FFF2-40B4-BE49-F238E27FC236}">
                <a16:creationId xmlns:a16="http://schemas.microsoft.com/office/drawing/2014/main" id="{C3B2E70C-DCD6-E009-9390-7751D836E63F}"/>
              </a:ext>
            </a:extLst>
          </p:cNvPr>
          <p:cNvSpPr>
            <a:spLocks noGrp="1" noChangeArrowheads="1"/>
          </p:cNvSpPr>
          <p:nvPr>
            <p:ph idx="1"/>
          </p:nvPr>
        </p:nvSpPr>
        <p:spPr bwMode="auto">
          <a:xfrm>
            <a:off x="891104" y="619582"/>
            <a:ext cx="7626074" cy="462856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Autofit/>
          </a:bodyPr>
          <a:lstStyle/>
          <a:p>
            <a:pPr marL="0" indent="0">
              <a:buNone/>
            </a:pPr>
            <a:r>
              <a:rPr lang="en-US" sz="1100" b="1" dirty="0"/>
              <a:t>Process to Live – EDA Automation Deployment</a:t>
            </a:r>
            <a:endParaRPr lang="en-US" sz="1100" dirty="0"/>
          </a:p>
          <a:p>
            <a:r>
              <a:rPr lang="en-US" sz="1100" b="1" dirty="0"/>
              <a:t>Staging Verification</a:t>
            </a:r>
            <a:endParaRPr lang="en-US" sz="1100" dirty="0"/>
          </a:p>
          <a:p>
            <a:pPr lvl="1"/>
            <a:r>
              <a:rPr lang="en-US" sz="1100" dirty="0"/>
              <a:t>All EDA automation workflows (ALB event detection, Shield Advanced onboarding, WAF attachment, log-pipeline creation, cleanup flows) were executed in the staging environment.</a:t>
            </a:r>
          </a:p>
          <a:p>
            <a:pPr lvl="1"/>
            <a:r>
              <a:rPr lang="en-US" sz="1100" dirty="0"/>
              <a:t>Full test evidence was captured to demonstrate functional correctness, security alignment, and audit traceability.</a:t>
            </a:r>
          </a:p>
          <a:p>
            <a:r>
              <a:rPr lang="en-US" sz="1100" b="1" dirty="0"/>
              <a:t>Production Deployment Under Change Control</a:t>
            </a:r>
            <a:endParaRPr lang="en-US" sz="1100" dirty="0"/>
          </a:p>
          <a:p>
            <a:pPr lvl="1"/>
            <a:r>
              <a:rPr lang="en-US" sz="1100" dirty="0"/>
              <a:t>Promoted to production via formal CAB process, following approved implementation and rollback plans.</a:t>
            </a:r>
          </a:p>
          <a:p>
            <a:pPr lvl="1"/>
            <a:r>
              <a:rPr lang="en-US" sz="1100" b="1" dirty="0"/>
              <a:t>The deployment was performed with zero production impact and required no downtime</a:t>
            </a:r>
            <a:r>
              <a:rPr lang="en-US" sz="1100" dirty="0"/>
              <a:t>, as the automation uses an attach only model and does not modify.  The EDA is driven by create/delete ALB event only.</a:t>
            </a:r>
          </a:p>
          <a:p>
            <a:pPr lvl="1"/>
            <a:r>
              <a:rPr lang="en-US" sz="1100" dirty="0"/>
              <a:t>Existing Shield Advanced protected ALBs required Proactive Engagement to be enabled separately as part of this production change.</a:t>
            </a:r>
          </a:p>
          <a:p>
            <a:pPr lvl="1"/>
            <a:r>
              <a:rPr lang="en-US" sz="1100" dirty="0"/>
              <a:t>Validated the EDA on production by deploying a CAB-approved test Ingress/ALB to trigger the workflow. We confirmed Shield Advanced onboarding, WAF association, Route53 health checks and automation logs. We did </a:t>
            </a:r>
            <a:r>
              <a:rPr lang="en-US" sz="1100" i="1" dirty="0"/>
              <a:t>not</a:t>
            </a:r>
            <a:r>
              <a:rPr lang="en-US" sz="1100" dirty="0"/>
              <a:t> intentionally generate traffic against production for WAF log validation, as this is not permitted. WAF logging configuration was validated, and actual log flow is confirmed once real production traffic begins. Entire validation was non-intrusive and performed with zero downtime.</a:t>
            </a:r>
          </a:p>
          <a:p>
            <a:r>
              <a:rPr lang="en-US" sz="1100" b="1" dirty="0"/>
              <a:t>Log Flow Validation (Sentinel)</a:t>
            </a:r>
            <a:endParaRPr lang="en-US" sz="1100" dirty="0"/>
          </a:p>
          <a:p>
            <a:pPr lvl="1"/>
            <a:r>
              <a:rPr lang="en-US" sz="1100" dirty="0"/>
              <a:t>The centralized S3 → Sentinel logging pipeline already existed, so no logging components were modified as part of this deployment.</a:t>
            </a:r>
          </a:p>
          <a:p>
            <a:pPr lvl="1"/>
            <a:r>
              <a:rPr lang="en-US" sz="1100" dirty="0"/>
              <a:t>The </a:t>
            </a:r>
            <a:r>
              <a:rPr lang="en-US" sz="1100" b="1" dirty="0"/>
              <a:t>Azure team verified and evidenced</a:t>
            </a:r>
            <a:r>
              <a:rPr lang="en-US" sz="1100" dirty="0"/>
              <a:t> that all EDA-generated logs (Shield Advanced events, WAF onboarding logs, automation traces) were successfully ingested by Sentinel as part of production readiness checks.</a:t>
            </a:r>
          </a:p>
          <a:p>
            <a:r>
              <a:rPr lang="en-US" sz="1100" b="1" dirty="0"/>
              <a:t>SOC Sign-Off</a:t>
            </a:r>
            <a:endParaRPr lang="en-US" sz="1100" dirty="0"/>
          </a:p>
          <a:p>
            <a:pPr lvl="1"/>
            <a:r>
              <a:rPr lang="en-US" sz="1100" dirty="0"/>
              <a:t>The SOC team reviewed the security posture, validated rule behavior and detection signals, and confirmed 24×7 monitoring readiness before final approval.</a:t>
            </a:r>
          </a:p>
        </p:txBody>
      </p:sp>
    </p:spTree>
    <p:extLst>
      <p:ext uri="{BB962C8B-B14F-4D97-AF65-F5344CB8AC3E}">
        <p14:creationId xmlns:p14="http://schemas.microsoft.com/office/powerpoint/2010/main" val="4169417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E4353-2A78-0F5E-A859-7D2C7CE101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16B77D-FEB8-E1DE-AD5F-086F74E3D131}"/>
              </a:ext>
            </a:extLst>
          </p:cNvPr>
          <p:cNvSpPr txBox="1"/>
          <p:nvPr/>
        </p:nvSpPr>
        <p:spPr>
          <a:xfrm>
            <a:off x="3666309" y="2903526"/>
            <a:ext cx="1288173" cy="369332"/>
          </a:xfrm>
          <a:prstGeom prst="rect">
            <a:avLst/>
          </a:prstGeom>
          <a:noFill/>
        </p:spPr>
        <p:txBody>
          <a:bodyPr wrap="none" rtlCol="0" anchor="ctr">
            <a:spAutoFit/>
          </a:bodyPr>
          <a:lstStyle/>
          <a:p>
            <a:r>
              <a:rPr lang="en-GB" dirty="0"/>
              <a:t>Questions ?</a:t>
            </a:r>
          </a:p>
        </p:txBody>
      </p:sp>
    </p:spTree>
    <p:extLst>
      <p:ext uri="{BB962C8B-B14F-4D97-AF65-F5344CB8AC3E}">
        <p14:creationId xmlns:p14="http://schemas.microsoft.com/office/powerpoint/2010/main" val="3724966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959</TotalTime>
  <Words>1539</Words>
  <Application>Microsoft Office PowerPoint</Application>
  <PresentationFormat>On-screen Show (4:3)</PresentationFormat>
  <Paragraphs>168</Paragraphs>
  <Slides>15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Project Overview</vt:lpstr>
      <vt:lpstr>PowerPoint Presentation</vt:lpstr>
      <vt:lpstr>Solution Before  </vt:lpstr>
      <vt:lpstr>The Problem - Unprotected ALBs  </vt:lpstr>
      <vt:lpstr>Responsibilities</vt:lpstr>
      <vt:lpstr>The Solution – Automated ALB Protection</vt:lpstr>
      <vt:lpstr>Architectural and Design Considerations</vt:lpstr>
      <vt:lpstr>Security Considerations</vt:lpstr>
      <vt:lpstr>Shield Advance Protection</vt:lpstr>
      <vt:lpstr>Success Measure</vt:lpstr>
      <vt:lpstr>Key Technical Decisions &amp; Integrations</vt:lpstr>
      <vt:lpstr>Challenges</vt:lpstr>
      <vt:lpstr>Compromises </vt:lpstr>
      <vt:lpstr>Process to live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Mahesh Devendran</dc:creator>
  <cp:keywords/>
  <dc:description>generated using python-pptx</dc:description>
  <cp:lastModifiedBy>Mahesh Devendran</cp:lastModifiedBy>
  <cp:revision>290</cp:revision>
  <dcterms:created xsi:type="dcterms:W3CDTF">2013-01-27T09:14:16Z</dcterms:created>
  <dcterms:modified xsi:type="dcterms:W3CDTF">2025-11-27T08:56:17Z</dcterms:modified>
  <cp:category/>
</cp:coreProperties>
</file>